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42a228c-c649-4de5-6e3e-73a43ae95df6}">
          <p14:sldIdLst>
            <p14:sldId id="256"/>
          </p14:sldIdLst>
        </p14:section>
        <p14:section name="Solution" id="{ac55e398-2eaf-836d-1338-9cd37e0cef0e}">
          <p14:sldIdLst>
            <p14:sldId id="257"/>
            <p14:sldId id="258"/>
            <p14:sldId id="259"/>
          </p14:sldIdLst>
        </p14:section>
        <p14:section name="Agents" id="{d0109390-0d16-65e4-24cb-76c9fd0ff6d3}">
          <p14:sldIdLst>
            <p14:sldId id="260"/>
            <p14:sldId id="261"/>
          </p14:sldIdLst>
        </p14:section>
        <p14:section name="Lifecycle" id="{92b33c1f-6548-ce8d-2a5c-1537eada9be2}">
          <p14:sldIdLst>
            <p14:sldId id="262"/>
            <p14:sldId id="263"/>
          </p14:sldIdLst>
        </p14:section>
        <p14:section name="Results" id="{df5f3c03-a0f6-4d71-e82a-f0d76ce39731}">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C49"/>
                </a:solidFill>
                <a:latin typeface="+mn-lt"/>
              </a:defRPr>
            </a:pPr>
            <a:r>
              <a:rPr sz="1400" b="0" i="0" u="none" strike="noStrike">
                <a:solidFill>
                  <a:srgbClr val="0B3C49"/>
                </a:solidFill>
                <a:latin typeface="+mn-lt"/>
              </a:rPr>
              <a:t>Offline keyword mode (%)</a:t>
            </a:r>
          </a:p>
        </c:rich>
      </c:tx>
      <c:layout/>
      <c:overlay val="0"/>
    </c:title>
    <c:autoTitleDeleted val="0"/>
    <c:plotArea>
      <c:layout/>
      <c:barChart>
        <c:barDir val="col"/>
        <c:grouping val="clustered"/>
        <c:varyColors val="0"/>
        <c:ser>
          <c:idx val="0"/>
          <c:order val="0"/>
          <c:tx>
            <c:strRef>
              <c:f>Sheet1!$B$1</c:f>
              <c:strCache>
                <c:ptCount val="1"/>
                <c:pt idx="0">
                  <c:v>Test cases (50)</c:v>
                </c:pt>
              </c:strCache>
            </c:strRef>
          </c:tx>
          <c:spPr>
            <a:solidFill>
              <a:srgbClr val="0B3C49"/>
            </a:solidFill>
            <a:effectLst/>
          </c:spPr>
          <c:invertIfNegative val="0"/>
          <c:dLbls>
            <c:numFmt formatCode="0&quot;%&quot;" sourceLinked="0"/>
            <c:txPr>
              <a:bodyPr/>
              <a:lstStyle/>
              <a:p>
                <a:pPr>
                  <a:defRPr b="0" i="0" strike="noStrike" sz="1100" u="none">
                    <a:solidFill>
                      <a:srgbClr val="1F2A30"/>
                    </a:solidFill>
                    <a:latin typeface="+mn-lt"/>
                  </a:defRPr>
                </a:pPr>
              </a:p>
            </c:txPr>
            <c:showLegendKey val="0"/>
            <c:showVal val="1"/>
            <c:showCatName val="0"/>
            <c:showSerName val="0"/>
            <c:showPercent val="0"/>
            <c:showBubbleSize val="0"/>
            <c:showLeaderLines val="0"/>
          </c:dLbls>
          <c:cat>
            <c:multiLvlStrRef>
              <c:f>Sheet1!$A$2:$A$5</c:f>
              <c:multiLvlStrCache>
                <c:ptCount val="4"/>
                <c:lvl>
                  <c:pt idx="0">
                    <c:v>Outcome accuracy</c:v>
                  </c:pt>
                  <c:pt idx="1">
                    <c:v>Route liability</c:v>
                  </c:pt>
                  <c:pt idx="2">
                    <c:v>Escalation recall</c:v>
                  </c:pt>
                  <c:pt idx="3">
                    <c:v>Automation rate</c:v>
                  </c:pt>
                </c:lvl>
              </c:multiLvlStrCache>
            </c:multiLvlStrRef>
          </c:cat>
          <c:val>
            <c:numRef>
              <c:f>Sheet1!$B$2:$B$5</c:f>
              <c:numCache>
                <c:formatCode>General</c:formatCode>
                <c:ptCount val="4"/>
                <c:pt idx="0">
                  <c:v>100</c:v>
                </c:pt>
                <c:pt idx="1">
                  <c:v>100</c:v>
                </c:pt>
                <c:pt idx="2">
                  <c:v>100</c:v>
                </c:pt>
                <c:pt idx="3">
                  <c:v>68</c:v>
                </c:pt>
              </c:numCache>
            </c:numRef>
          </c:val>
        </c:ser>
        <c:ser>
          <c:idx val="1"/>
          <c:order val="1"/>
          <c:tx>
            <c:strRef>
              <c:f>Sheet1!$C$1</c:f>
              <c:strCache>
                <c:ptCount val="1"/>
                <c:pt idx="0">
                  <c:v>Hard variants (50)</c:v>
                </c:pt>
              </c:strCache>
            </c:strRef>
          </c:tx>
          <c:spPr>
            <a:solidFill>
              <a:srgbClr val="F4A259"/>
            </a:solidFill>
            <a:effectLst/>
          </c:spPr>
          <c:invertIfNegative val="0"/>
          <c:dLbls>
            <c:numFmt formatCode="0&quot;%&quot;" sourceLinked="0"/>
            <c:txPr>
              <a:bodyPr/>
              <a:lstStyle/>
              <a:p>
                <a:pPr>
                  <a:defRPr b="0" i="0" strike="noStrike" sz="1100" u="none">
                    <a:solidFill>
                      <a:srgbClr val="1F2A30"/>
                    </a:solidFill>
                    <a:latin typeface="+mn-lt"/>
                  </a:defRPr>
                </a:pPr>
              </a:p>
            </c:txPr>
            <c:showLegendKey val="0"/>
            <c:showVal val="1"/>
            <c:showCatName val="0"/>
            <c:showSerName val="0"/>
            <c:showPercent val="0"/>
            <c:showBubbleSize val="0"/>
            <c:showLeaderLines val="0"/>
          </c:dLbls>
          <c:cat>
            <c:multiLvlStrRef>
              <c:f>Sheet1!$A$2:$A$5</c:f>
              <c:multiLvlStrCache>
                <c:ptCount val="4"/>
                <c:lvl>
                  <c:pt idx="0">
                    <c:v>Outcome accuracy</c:v>
                  </c:pt>
                  <c:pt idx="1">
                    <c:v>Route liability</c:v>
                  </c:pt>
                  <c:pt idx="2">
                    <c:v>Escalation recall</c:v>
                  </c:pt>
                  <c:pt idx="3">
                    <c:v>Automation rate</c:v>
                  </c:pt>
                </c:lvl>
              </c:multiLvlStrCache>
            </c:multiLvlStrRef>
          </c:cat>
          <c:val>
            <c:numRef>
              <c:f>Sheet1!$C$2:$C$5</c:f>
              <c:numCache>
                <c:formatCode>General</c:formatCode>
                <c:ptCount val="4"/>
                <c:pt idx="0">
                  <c:v>78</c:v>
                </c:pt>
                <c:pt idx="1">
                  <c:v>36</c:v>
                </c:pt>
                <c:pt idx="2">
                  <c:v>81</c:v>
                </c:pt>
                <c:pt idx="3">
                  <c:v>74</c:v>
                </c:pt>
              </c:numCache>
            </c:numRef>
          </c:val>
        </c:ser>
        <c:dLbls>
          <c:numFmt formatCode="0&quot;%&quot;" sourceLinked="0"/>
          <c:txPr>
            <a:bodyPr/>
            <a:lstStyle/>
            <a:p>
              <a:pPr>
                <a:defRPr b="0" i="0" strike="noStrike" sz="1100" u="none">
                  <a:solidFill>
                    <a:srgbClr val="1F2A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7DB1"/>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D9E3E5"/>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7DB1"/>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RydeResolve settles standard ride-hailing disputes in seconds. Two advocate agents argue from evidence they gather themselves, a Judge rules, and deterministic engines decide what is allowed, including all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24 to 72 hour figure is the manual-review estimate used in our product brief. The point of the design is that a model never decides money or whether a person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only read through role-scoped tools; nothing an agent says is trusted until an engine checks it. The provider layer speaks one internal format and translates it for the Anthropic Messages API or any OpenAI-compatible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advocates run in parallel on the same case file, so neither sees the other's new evidence within a round. The evidence gate skips a round that brings nothing new. The Policy and Precedent Agent runs before every Judge ruling.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 IDs are assigned by the system. The Communication Analyst labels each message once per case, so both advocates read the same neutral labels; sender and timing are still checked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Judge's correction turn reports format errors only and never shows the rule's outcome, so the two keys stay independent. The Judge may add supporting reasons but may not drop any reason the rule gives.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window is 12 hours on a simulated clock in the demo. A separate LangGraph handles challenges: a materiality gate, then reject, re-evaluate or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advocate can read only its own party's history and uploads. Policy search defaults to the clauses that can apply to this dispute instead of all 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on the test cases measures policy fidelity, because the answers and the rules come from the same policy. The hard variants reword every chat message in Singlish, Chinese, Malay-English or with typos, add traffic complaints that are not notices, jitter GPS and shuffle records. The LLM-mode score on the hard variants is the number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detection is still keyword-based, which is why reworded threats are missed; it is the first fix. The full LLM benchmark costs about 70 yuan at current DeepSeek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520440"/>
            <a:ext cx="1069848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RydeResolve · Solution diagram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nchor="b"/>
          <a:lstStyle/>
          <a:p>
            <a:pPr algn="l" indent="0" marL="0">
              <a:buNone/>
            </a:pPr>
            <a:r>
              <a:rPr lang="en-US" sz="4800" b="1" dirty="0">
                <a:solidFill>
                  <a:schemeClr val="bg1"/>
                </a:solidFill>
              </a:rPr>
              <a:t>RydeResolve</a:t>
            </a:r>
            <a:endParaRPr lang="en-US" sz="4800" dirty="0"/>
          </a:p>
        </p:txBody>
      </p:sp>
      <p:sp>
        <p:nvSpPr>
          <p:cNvPr id="3" name="Text 0"/>
          <p:cNvSpPr/>
          <p:nvPr>
            <p:ph idx="101" type="body" hasCustomPrompt="1"/>
          </p:nvPr>
        </p:nvSpPr>
        <p:spPr>
          <a:xfrm>
            <a:off x="731520" y="3520440"/>
            <a:ext cx="10698480" cy="1280160"/>
          </a:xfrm>
          <a:prstGeom prst="rect">
            <a:avLst/>
          </a:prstGeom>
          <a:noFill/>
          <a:ln/>
        </p:spPr>
        <p:txBody>
          <a:bodyPr wrap="square" rtlCol="0" anchor="t"/>
          <a:lstStyle/>
          <a:p>
            <a:pPr algn="l" indent="0" marL="0">
              <a:buNone/>
            </a:pPr>
            <a:r>
              <a:rPr lang="en-US" sz="2000" dirty="0">
                <a:solidFill>
                  <a:schemeClr val="bg2"/>
                </a:solidFill>
              </a:rPr>
              <a:t>Multi-agent dispute resolution for Ryde: solution architecture</a:t>
            </a:r>
            <a:endParaRPr lang="en-US" sz="2000" dirty="0"/>
          </a:p>
          <a:p>
            <a:pPr algn="l" indent="0" marL="0">
              <a:buNone/>
            </a:pPr>
            <a:r>
              <a:rPr lang="en-US" sz="1600" dirty="0">
                <a:solidFill>
                  <a:schemeClr val="accent2"/>
                </a:solidFill>
              </a:rPr>
              <a:t>Tencent Cloud AI Hackathon Singapore 2026 · Digital Native track</a:t>
            </a:r>
            <a:endParaRPr lang="en-US" sz="2000" dirty="0"/>
          </a:p>
        </p:txBody>
      </p:sp>
      <p:sp>
        <p:nvSpPr>
          <p:cNvPr id="4" name="title chip Rider Advocate"/>
          <p:cNvSpPr/>
          <p:nvPr/>
        </p:nvSpPr>
        <p:spPr>
          <a:xfrm>
            <a:off x="731520" y="5212080"/>
            <a:ext cx="2286000" cy="640080"/>
          </a:xfrm>
          <a:prstGeom prst="roundRect">
            <a:avLst>
              <a:gd name="adj" fmla="val 17143"/>
            </a:avLst>
          </a:prstGeom>
          <a:solidFill>
            <a:schemeClr val="accent1"/>
          </a:solidFill>
          <a:ln w="12700">
            <a:solidFill>
              <a:schemeClr val="accent1"/>
            </a:solidFill>
            <a:prstDash val="solid"/>
          </a:ln>
        </p:spPr>
      </p:sp>
      <p:sp>
        <p:nvSpPr>
          <p:cNvPr id="5" name="title chip Rider Advocate text"/>
          <p:cNvSpPr txBox="1"/>
          <p:nvPr/>
        </p:nvSpPr>
        <p:spPr>
          <a:xfrm>
            <a:off x="822960" y="5212080"/>
            <a:ext cx="2103120" cy="640080"/>
          </a:xfrm>
          <a:prstGeom prst="rect">
            <a:avLst/>
          </a:prstGeom>
          <a:noFill/>
          <a:ln/>
        </p:spPr>
        <p:txBody>
          <a:bodyPr wrap="square" lIns="508" tIns="508" rIns="508" bIns="508" rtlCol="0" anchor="ctr"/>
          <a:lstStyle/>
          <a:p>
            <a:pPr algn="ctr" indent="0" marL="0">
              <a:buNone/>
            </a:pPr>
            <a:r>
              <a:rPr lang="en-US" sz="1600" b="1" dirty="0">
                <a:solidFill>
                  <a:schemeClr val="bg1"/>
                </a:solidFill>
              </a:rPr>
              <a:t>Rider Advocate</a:t>
            </a:r>
            <a:endParaRPr lang="en-US" sz="1600" dirty="0"/>
          </a:p>
        </p:txBody>
      </p:sp>
      <p:sp>
        <p:nvSpPr>
          <p:cNvPr id="6" name="title chip Driver Advocate"/>
          <p:cNvSpPr/>
          <p:nvPr/>
        </p:nvSpPr>
        <p:spPr>
          <a:xfrm>
            <a:off x="3246120" y="5212080"/>
            <a:ext cx="2286000" cy="640080"/>
          </a:xfrm>
          <a:prstGeom prst="roundRect">
            <a:avLst>
              <a:gd name="adj" fmla="val 17143"/>
            </a:avLst>
          </a:prstGeom>
          <a:solidFill>
            <a:schemeClr val="accent1"/>
          </a:solidFill>
          <a:ln w="12700">
            <a:solidFill>
              <a:schemeClr val="accent1"/>
            </a:solidFill>
            <a:prstDash val="solid"/>
          </a:ln>
        </p:spPr>
      </p:sp>
      <p:sp>
        <p:nvSpPr>
          <p:cNvPr id="7" name="title chip Driver Advocate text"/>
          <p:cNvSpPr txBox="1"/>
          <p:nvPr/>
        </p:nvSpPr>
        <p:spPr>
          <a:xfrm>
            <a:off x="3337560" y="5212080"/>
            <a:ext cx="2103120" cy="640080"/>
          </a:xfrm>
          <a:prstGeom prst="rect">
            <a:avLst/>
          </a:prstGeom>
          <a:noFill/>
          <a:ln/>
        </p:spPr>
        <p:txBody>
          <a:bodyPr wrap="square" lIns="508" tIns="508" rIns="508" bIns="508" rtlCol="0" anchor="ctr"/>
          <a:lstStyle/>
          <a:p>
            <a:pPr algn="ctr" indent="0" marL="0">
              <a:buNone/>
            </a:pPr>
            <a:r>
              <a:rPr lang="en-US" sz="1600" b="1" dirty="0">
                <a:solidFill>
                  <a:schemeClr val="bg1"/>
                </a:solidFill>
              </a:rPr>
              <a:t>Driver Advocate</a:t>
            </a:r>
            <a:endParaRPr lang="en-US" sz="1600" dirty="0"/>
          </a:p>
        </p:txBody>
      </p:sp>
      <p:sp>
        <p:nvSpPr>
          <p:cNvPr id="8" name="title chip Judge"/>
          <p:cNvSpPr/>
          <p:nvPr/>
        </p:nvSpPr>
        <p:spPr>
          <a:xfrm>
            <a:off x="5760720" y="5212080"/>
            <a:ext cx="2286000" cy="640080"/>
          </a:xfrm>
          <a:prstGeom prst="roundRect">
            <a:avLst>
              <a:gd name="adj" fmla="val 17143"/>
            </a:avLst>
          </a:prstGeom>
          <a:solidFill>
            <a:schemeClr val="accent1"/>
          </a:solidFill>
          <a:ln w="12700">
            <a:solidFill>
              <a:schemeClr val="accent1"/>
            </a:solidFill>
            <a:prstDash val="solid"/>
          </a:ln>
        </p:spPr>
      </p:sp>
      <p:sp>
        <p:nvSpPr>
          <p:cNvPr id="9" name="title chip Judge text"/>
          <p:cNvSpPr txBox="1"/>
          <p:nvPr/>
        </p:nvSpPr>
        <p:spPr>
          <a:xfrm>
            <a:off x="5852160" y="5212080"/>
            <a:ext cx="2103120" cy="640080"/>
          </a:xfrm>
          <a:prstGeom prst="rect">
            <a:avLst/>
          </a:prstGeom>
          <a:noFill/>
          <a:ln/>
        </p:spPr>
        <p:txBody>
          <a:bodyPr wrap="square" lIns="508" tIns="508" rIns="508" bIns="508" rtlCol="0" anchor="ctr"/>
          <a:lstStyle/>
          <a:p>
            <a:pPr algn="ctr" indent="0" marL="0">
              <a:buNone/>
            </a:pPr>
            <a:r>
              <a:rPr lang="en-US" sz="1600" b="1" dirty="0">
                <a:solidFill>
                  <a:schemeClr val="bg1"/>
                </a:solidFill>
              </a:rPr>
              <a:t>Judge</a:t>
            </a:r>
            <a:endParaRPr lang="en-US" sz="1600" dirty="0"/>
          </a:p>
        </p:txBody>
      </p:sp>
      <p:sp>
        <p:nvSpPr>
          <p:cNvPr id="10" name="title chip Engines"/>
          <p:cNvSpPr/>
          <p:nvPr/>
        </p:nvSpPr>
        <p:spPr>
          <a:xfrm>
            <a:off x="8275320" y="5212080"/>
            <a:ext cx="2286000" cy="640080"/>
          </a:xfrm>
          <a:prstGeom prst="roundRect">
            <a:avLst>
              <a:gd name="adj" fmla="val 17143"/>
            </a:avLst>
          </a:prstGeom>
          <a:solidFill>
            <a:schemeClr val="accent1"/>
          </a:solidFill>
          <a:ln w="12700">
            <a:solidFill>
              <a:schemeClr val="accent1"/>
            </a:solidFill>
            <a:prstDash val="solid"/>
          </a:ln>
        </p:spPr>
      </p:sp>
      <p:sp>
        <p:nvSpPr>
          <p:cNvPr id="11" name="title chip Engines text"/>
          <p:cNvSpPr txBox="1"/>
          <p:nvPr/>
        </p:nvSpPr>
        <p:spPr>
          <a:xfrm>
            <a:off x="8366760" y="5212080"/>
            <a:ext cx="2103120" cy="640080"/>
          </a:xfrm>
          <a:prstGeom prst="rect">
            <a:avLst/>
          </a:prstGeom>
          <a:noFill/>
          <a:ln/>
        </p:spPr>
        <p:txBody>
          <a:bodyPr wrap="square" lIns="508" tIns="508" rIns="508" bIns="508" rtlCol="0" anchor="ctr"/>
          <a:lstStyle/>
          <a:p>
            <a:pPr algn="ctr" indent="0" marL="0">
              <a:buNone/>
            </a:pPr>
            <a:r>
              <a:rPr lang="en-US" sz="1600" b="1" dirty="0">
                <a:solidFill>
                  <a:schemeClr val="bg1"/>
                </a:solidFill>
              </a:rPr>
              <a:t>Engines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2"/>
                </a:solidFill>
              </a:rPr>
              <a:t>Disputes today are slow and inconsistent</a:t>
            </a:r>
            <a:endParaRPr lang="en-US" sz="3200" dirty="0"/>
          </a:p>
        </p:txBody>
      </p:sp>
      <p:sp>
        <p:nvSpPr>
          <p:cNvPr id="3" name="today panel"/>
          <p:cNvSpPr/>
          <p:nvPr/>
        </p:nvSpPr>
        <p:spPr>
          <a:xfrm>
            <a:off x="548640" y="1371600"/>
            <a:ext cx="5120640" cy="4480560"/>
          </a:xfrm>
          <a:prstGeom prst="roundRect">
            <a:avLst>
              <a:gd name="adj" fmla="val 2449"/>
            </a:avLst>
          </a:prstGeom>
          <a:solidFill>
            <a:schemeClr val="bg2"/>
          </a:solidFill>
          <a:ln w="12700">
            <a:solidFill>
              <a:schemeClr val="bg2"/>
            </a:solidFill>
            <a:prstDash val="solid"/>
          </a:ln>
        </p:spPr>
      </p:sp>
      <p:sp>
        <p:nvSpPr>
          <p:cNvPr id="4" name="today panel text"/>
          <p:cNvSpPr txBox="1"/>
          <p:nvPr/>
        </p:nvSpPr>
        <p:spPr>
          <a:xfrm>
            <a:off x="640080" y="1371600"/>
            <a:ext cx="4937760" cy="4480560"/>
          </a:xfrm>
          <a:prstGeom prst="rect">
            <a:avLst/>
          </a:prstGeom>
          <a:noFill/>
          <a:ln/>
        </p:spPr>
        <p:txBody>
          <a:bodyPr wrap="square" lIns="508" tIns="508" rIns="508" bIns="508" rtlCol="0" anchor="ctr"/>
          <a:lstStyle/>
          <a:p>
            <a:pPr algn="ctr" indent="0" marL="0">
              <a:buNone/>
            </a:pPr>
            <a:endParaRPr lang="en-US" sz="1500" dirty="0"/>
          </a:p>
        </p:txBody>
      </p:sp>
      <p:sp>
        <p:nvSpPr>
          <p:cNvPr id="5" name="Text 3"/>
          <p:cNvSpPr txBox="1"/>
          <p:nvPr/>
        </p:nvSpPr>
        <p:spPr>
          <a:xfrm>
            <a:off x="822960" y="1554480"/>
            <a:ext cx="4572000" cy="457200"/>
          </a:xfrm>
          <a:prstGeom prst="rect">
            <a:avLst/>
          </a:prstGeom>
          <a:noFill/>
          <a:ln/>
        </p:spPr>
        <p:txBody>
          <a:bodyPr wrap="square" lIns="0" tIns="0" rIns="0" bIns="0" rtlCol="0" anchor="ctr"/>
          <a:lstStyle/>
          <a:p>
            <a:pPr algn="l" indent="0" marL="0">
              <a:buNone/>
            </a:pPr>
            <a:r>
              <a:rPr lang="en-US" sz="2000" b="1" dirty="0">
                <a:solidFill>
                  <a:schemeClr val="tx2"/>
                </a:solidFill>
              </a:rPr>
              <a:t>Today: manual review</a:t>
            </a:r>
            <a:endParaRPr lang="en-US" sz="2000" dirty="0"/>
          </a:p>
        </p:txBody>
      </p:sp>
      <p:sp>
        <p:nvSpPr>
          <p:cNvPr id="6" name="Text 4"/>
          <p:cNvSpPr txBox="1"/>
          <p:nvPr/>
        </p:nvSpPr>
        <p:spPr>
          <a:xfrm>
            <a:off x="822960" y="2194560"/>
            <a:ext cx="4572000" cy="1005840"/>
          </a:xfrm>
          <a:prstGeom prst="rect">
            <a:avLst/>
          </a:prstGeom>
          <a:noFill/>
          <a:ln/>
        </p:spPr>
        <p:txBody>
          <a:bodyPr wrap="square" lIns="0" tIns="0" rIns="0" bIns="0" rtlCol="0" anchor="ctr"/>
          <a:lstStyle/>
          <a:p>
            <a:pPr algn="l" indent="0" marL="0">
              <a:buNone/>
            </a:pPr>
            <a:r>
              <a:rPr lang="en-US" sz="6000" b="1" dirty="0">
                <a:solidFill>
                  <a:schemeClr val="accent3"/>
                </a:solidFill>
              </a:rPr>
              <a:t>24–72 h</a:t>
            </a:r>
            <a:endParaRPr lang="en-US" sz="6000" dirty="0"/>
          </a:p>
        </p:txBody>
      </p:sp>
      <p:sp>
        <p:nvSpPr>
          <p:cNvPr id="7" name="Text 5"/>
          <p:cNvSpPr txBox="1"/>
          <p:nvPr/>
        </p:nvSpPr>
        <p:spPr>
          <a:xfrm>
            <a:off x="822960" y="3200400"/>
            <a:ext cx="4572000" cy="365760"/>
          </a:xfrm>
          <a:prstGeom prst="rect">
            <a:avLst/>
          </a:prstGeom>
          <a:noFill/>
          <a:ln/>
        </p:spPr>
        <p:txBody>
          <a:bodyPr wrap="square" lIns="0" tIns="0" rIns="0" bIns="0" rtlCol="0" anchor="ctr"/>
          <a:lstStyle/>
          <a:p>
            <a:pPr algn="l" indent="0" marL="0">
              <a:buNone/>
            </a:pPr>
            <a:r>
              <a:rPr lang="en-US" sz="1400" dirty="0">
                <a:solidFill>
                  <a:schemeClr val="tx1"/>
                </a:solidFill>
              </a:rPr>
              <a:t>per dispute, reading GPS, chat, events, fares and policy</a:t>
            </a:r>
            <a:endParaRPr lang="en-US" sz="1400" dirty="0"/>
          </a:p>
        </p:txBody>
      </p:sp>
      <p:sp>
        <p:nvSpPr>
          <p:cNvPr id="8" name="Text 6"/>
          <p:cNvSpPr txBox="1"/>
          <p:nvPr/>
        </p:nvSpPr>
        <p:spPr>
          <a:xfrm>
            <a:off x="822960" y="3931920"/>
            <a:ext cx="4572000" cy="1645920"/>
          </a:xfrm>
          <a:prstGeom prst="rect">
            <a:avLst/>
          </a:prstGeom>
          <a:noFill/>
          <a:ln/>
        </p:spPr>
        <p:txBody>
          <a:bodyPr wrap="square" lIns="0" tIns="0" rIns="0" bIns="0" rtlCol="0" anchor="t"/>
          <a:lstStyle/>
          <a:p>
            <a:pPr algn="l" indent="0" marL="0">
              <a:buNone/>
            </a:pPr>
            <a:r>
              <a:rPr lang="en-US" sz="1600" dirty="0">
                <a:solidFill>
                  <a:schemeClr val="tx1"/>
                </a:solidFill>
              </a:rPr>
              <a:t>Similar cases end with different rulings, and riders and drivers cannot see why.</a:t>
            </a:r>
            <a:endParaRPr lang="en-US" sz="1600" dirty="0"/>
          </a:p>
        </p:txBody>
      </p:sp>
      <p:sp>
        <p:nvSpPr>
          <p:cNvPr id="9" name="with panel"/>
          <p:cNvSpPr/>
          <p:nvPr/>
        </p:nvSpPr>
        <p:spPr>
          <a:xfrm>
            <a:off x="6492240" y="1371600"/>
            <a:ext cx="5120640" cy="4480560"/>
          </a:xfrm>
          <a:prstGeom prst="roundRect">
            <a:avLst>
              <a:gd name="adj" fmla="val 2449"/>
            </a:avLst>
          </a:prstGeom>
          <a:solidFill>
            <a:schemeClr val="tx2"/>
          </a:solidFill>
          <a:ln w="12700">
            <a:solidFill>
              <a:schemeClr val="tx2"/>
            </a:solidFill>
            <a:prstDash val="solid"/>
          </a:ln>
        </p:spPr>
      </p:sp>
      <p:sp>
        <p:nvSpPr>
          <p:cNvPr id="10" name="with panel text"/>
          <p:cNvSpPr txBox="1"/>
          <p:nvPr/>
        </p:nvSpPr>
        <p:spPr>
          <a:xfrm>
            <a:off x="6583680" y="1371600"/>
            <a:ext cx="4937760" cy="4480560"/>
          </a:xfrm>
          <a:prstGeom prst="rect">
            <a:avLst/>
          </a:prstGeom>
          <a:noFill/>
          <a:ln/>
        </p:spPr>
        <p:txBody>
          <a:bodyPr wrap="square" lIns="508" tIns="508" rIns="508" bIns="508" rtlCol="0" anchor="ctr"/>
          <a:lstStyle/>
          <a:p>
            <a:pPr algn="ctr" indent="0" marL="0">
              <a:buNone/>
            </a:pPr>
            <a:endParaRPr lang="en-US" sz="1500" dirty="0"/>
          </a:p>
        </p:txBody>
      </p:sp>
      <p:sp>
        <p:nvSpPr>
          <p:cNvPr id="11" name="Text 9"/>
          <p:cNvSpPr txBox="1"/>
          <p:nvPr/>
        </p:nvSpPr>
        <p:spPr>
          <a:xfrm>
            <a:off x="6766560" y="1554480"/>
            <a:ext cx="4572000" cy="457200"/>
          </a:xfrm>
          <a:prstGeom prst="rect">
            <a:avLst/>
          </a:prstGeom>
          <a:noFill/>
          <a:ln/>
        </p:spPr>
        <p:txBody>
          <a:bodyPr wrap="square" lIns="0" tIns="0" rIns="0" bIns="0" rtlCol="0" anchor="ctr"/>
          <a:lstStyle/>
          <a:p>
            <a:pPr algn="l" indent="0" marL="0">
              <a:buNone/>
            </a:pPr>
            <a:r>
              <a:rPr lang="en-US" sz="2000" b="1" dirty="0">
                <a:solidFill>
                  <a:schemeClr val="bg1"/>
                </a:solidFill>
              </a:rPr>
              <a:t>With RydeResolve</a:t>
            </a:r>
            <a:endParaRPr lang="en-US" sz="2000" dirty="0"/>
          </a:p>
        </p:txBody>
      </p:sp>
      <p:sp>
        <p:nvSpPr>
          <p:cNvPr id="12" name="Text 10"/>
          <p:cNvSpPr txBox="1"/>
          <p:nvPr/>
        </p:nvSpPr>
        <p:spPr>
          <a:xfrm>
            <a:off x="6766560" y="2194560"/>
            <a:ext cx="4572000" cy="1005840"/>
          </a:xfrm>
          <a:prstGeom prst="rect">
            <a:avLst/>
          </a:prstGeom>
          <a:noFill/>
          <a:ln/>
        </p:spPr>
        <p:txBody>
          <a:bodyPr wrap="square" lIns="0" tIns="0" rIns="0" bIns="0" rtlCol="0" anchor="ctr"/>
          <a:lstStyle/>
          <a:p>
            <a:pPr algn="l" indent="0" marL="0">
              <a:buNone/>
            </a:pPr>
            <a:r>
              <a:rPr lang="en-US" sz="6000" b="1" dirty="0">
                <a:solidFill>
                  <a:schemeClr val="accent2"/>
                </a:solidFill>
              </a:rPr>
              <a:t>Seconds</a:t>
            </a:r>
            <a:endParaRPr lang="en-US" sz="6000" dirty="0"/>
          </a:p>
        </p:txBody>
      </p:sp>
      <p:sp>
        <p:nvSpPr>
          <p:cNvPr id="13" name="Text 11"/>
          <p:cNvSpPr txBox="1"/>
          <p:nvPr/>
        </p:nvSpPr>
        <p:spPr>
          <a:xfrm>
            <a:off x="6766560" y="3200400"/>
            <a:ext cx="4572000" cy="365760"/>
          </a:xfrm>
          <a:prstGeom prst="rect">
            <a:avLst/>
          </a:prstGeom>
          <a:noFill/>
          <a:ln/>
        </p:spPr>
        <p:txBody>
          <a:bodyPr wrap="square" lIns="0" tIns="0" rIns="0" bIns="0" rtlCol="0" anchor="ctr"/>
          <a:lstStyle/>
          <a:p>
            <a:pPr algn="l" indent="0" marL="0">
              <a:buNone/>
            </a:pPr>
            <a:r>
              <a:rPr lang="en-US" sz="1400" dirty="0">
                <a:solidFill>
                  <a:schemeClr val="bg2"/>
                </a:solidFill>
              </a:rPr>
              <a:t>for a standard case; people only see the hard ones</a:t>
            </a:r>
            <a:endParaRPr lang="en-US" sz="1400" dirty="0"/>
          </a:p>
        </p:txBody>
      </p:sp>
      <p:sp>
        <p:nvSpPr>
          <p:cNvPr id="14" name="Text 12"/>
          <p:cNvSpPr txBox="1"/>
          <p:nvPr/>
        </p:nvSpPr>
        <p:spPr>
          <a:xfrm>
            <a:off x="6766560" y="3749040"/>
            <a:ext cx="4572000" cy="19202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Agents argue from their own evidence</a:t>
            </a:r>
            <a:endParaRPr lang="en-US" sz="1600" dirty="0"/>
          </a:p>
          <a:p>
            <a:pPr marL="342900" indent="-342900">
              <a:spcAft>
                <a:spcPts val="600"/>
              </a:spcAft>
              <a:buSzPct val="100000"/>
              <a:buChar char="•"/>
            </a:pPr>
            <a:r>
              <a:rPr lang="en-US" sz="1600" dirty="0">
                <a:solidFill>
                  <a:schemeClr val="bg1"/>
                </a:solidFill>
              </a:rPr>
              <a:t>Every claim is recomputed from cited records</a:t>
            </a:r>
            <a:endParaRPr lang="en-US" sz="1600" dirty="0"/>
          </a:p>
          <a:p>
            <a:pPr marL="342900" indent="-342900">
              <a:spcAft>
                <a:spcPts val="600"/>
              </a:spcAft>
              <a:buSzPct val="100000"/>
              <a:buChar char="•"/>
            </a:pPr>
            <a:r>
              <a:rPr lang="en-US" sz="1600" dirty="0">
                <a:solidFill>
                  <a:schemeClr val="bg1"/>
                </a:solidFill>
              </a:rPr>
              <a:t>Money and routing are deterministic code</a:t>
            </a:r>
            <a:endParaRPr lang="en-US" sz="1600" dirty="0"/>
          </a:p>
          <a:p>
            <a:pPr marL="342900" indent="-342900">
              <a:spcAft>
                <a:spcPts val="600"/>
              </a:spcAft>
              <a:buSzPct val="100000"/>
              <a:buChar char="•"/>
            </a:pPr>
            <a:r>
              <a:rPr lang="en-US" sz="1600" dirty="0">
                <a:solidFill>
                  <a:schemeClr val="bg1"/>
                </a:solidFill>
              </a:rPr>
              <a:t>The affected party can challenge</a:t>
            </a:r>
            <a:endParaRPr lang="en-US" sz="1600" dirty="0"/>
          </a:p>
        </p:txBody>
      </p:sp>
      <p:sp>
        <p:nvSpPr>
          <p:cNvPr id="15" name="Shape 13"/>
          <p:cNvSpPr/>
          <p:nvPr/>
        </p:nvSpPr>
        <p:spPr>
          <a:xfrm>
            <a:off x="5760720" y="3611880"/>
            <a:ext cx="640080" cy="914"/>
          </a:xfrm>
          <a:prstGeom prst="line">
            <a:avLst/>
          </a:prstGeom>
          <a:noFill/>
          <a:ln w="38100">
            <a:solidFill>
              <a:schemeClr val="accent2"/>
            </a:solidFill>
            <a:prstDash val="solid"/>
            <a:tailEnd type="triangle"/>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2"/>
                </a:solidFill>
              </a:rPr>
              <a:t>Solution architecture</a:t>
            </a:r>
            <a:endParaRPr lang="en-US" sz="3200" dirty="0"/>
          </a:p>
        </p:txBody>
      </p:sp>
      <p:sp>
        <p:nvSpPr>
          <p:cNvPr id="3" name="Party apps"/>
          <p:cNvSpPr/>
          <p:nvPr/>
        </p:nvSpPr>
        <p:spPr>
          <a:xfrm>
            <a:off x="548640" y="1325880"/>
            <a:ext cx="3108960" cy="777240"/>
          </a:xfrm>
          <a:prstGeom prst="roundRect">
            <a:avLst>
              <a:gd name="adj" fmla="val 14118"/>
            </a:avLst>
          </a:prstGeom>
          <a:solidFill>
            <a:schemeClr val="tx2"/>
          </a:solidFill>
          <a:ln w="12700">
            <a:solidFill>
              <a:schemeClr val="tx2"/>
            </a:solidFill>
            <a:prstDash val="solid"/>
          </a:ln>
        </p:spPr>
      </p:sp>
      <p:sp>
        <p:nvSpPr>
          <p:cNvPr id="4" name="Party apps text"/>
          <p:cNvSpPr txBox="1"/>
          <p:nvPr/>
        </p:nvSpPr>
        <p:spPr>
          <a:xfrm>
            <a:off x="640080" y="1325880"/>
            <a:ext cx="2926080" cy="777240"/>
          </a:xfrm>
          <a:prstGeom prst="rect">
            <a:avLst/>
          </a:prstGeom>
          <a:noFill/>
          <a:ln/>
        </p:spPr>
        <p:txBody>
          <a:bodyPr wrap="square" lIns="508" tIns="508" rIns="508" bIns="508" rtlCol="0" anchor="ctr"/>
          <a:lstStyle/>
          <a:p>
            <a:pPr algn="ctr" indent="0" marL="0">
              <a:buNone/>
            </a:pPr>
            <a:r>
              <a:rPr lang="en-US" sz="1500" b="1" dirty="0">
                <a:solidFill>
                  <a:schemeClr val="bg1"/>
                </a:solidFill>
              </a:rPr>
              <a:t>Party apps</a:t>
            </a:r>
            <a:endParaRPr lang="en-US" sz="1500" dirty="0"/>
          </a:p>
          <a:p>
            <a:pPr algn="ctr" indent="0" marL="0">
              <a:buNone/>
            </a:pPr>
            <a:r>
              <a:rPr lang="en-US" sz="1200" dirty="0">
                <a:solidFill>
                  <a:schemeClr val="bg2"/>
                </a:solidFill>
              </a:rPr>
              <a:t>Rider · Driver · Admin</a:t>
            </a:r>
            <a:endParaRPr lang="en-US" sz="1500" dirty="0"/>
          </a:p>
        </p:txBody>
      </p:sp>
      <p:sp>
        <p:nvSpPr>
          <p:cNvPr id="5" name="FastAPI service"/>
          <p:cNvSpPr/>
          <p:nvPr/>
        </p:nvSpPr>
        <p:spPr>
          <a:xfrm>
            <a:off x="548640" y="2377440"/>
            <a:ext cx="3108960" cy="777240"/>
          </a:xfrm>
          <a:prstGeom prst="roundRect">
            <a:avLst>
              <a:gd name="adj" fmla="val 14118"/>
            </a:avLst>
          </a:prstGeom>
          <a:solidFill>
            <a:schemeClr val="tx2"/>
          </a:solidFill>
          <a:ln w="12700">
            <a:solidFill>
              <a:schemeClr val="tx2"/>
            </a:solidFill>
            <a:prstDash val="solid"/>
          </a:ln>
        </p:spPr>
      </p:sp>
      <p:sp>
        <p:nvSpPr>
          <p:cNvPr id="6" name="FastAPI service text"/>
          <p:cNvSpPr txBox="1"/>
          <p:nvPr/>
        </p:nvSpPr>
        <p:spPr>
          <a:xfrm>
            <a:off x="640080" y="2377440"/>
            <a:ext cx="2926080" cy="777240"/>
          </a:xfrm>
          <a:prstGeom prst="rect">
            <a:avLst/>
          </a:prstGeom>
          <a:noFill/>
          <a:ln/>
        </p:spPr>
        <p:txBody>
          <a:bodyPr wrap="square" lIns="508" tIns="508" rIns="508" bIns="508" rtlCol="0" anchor="ctr"/>
          <a:lstStyle/>
          <a:p>
            <a:pPr algn="ctr" indent="0" marL="0">
              <a:buNone/>
            </a:pPr>
            <a:r>
              <a:rPr lang="en-US" sz="1500" b="1" dirty="0">
                <a:solidFill>
                  <a:schemeClr val="bg1"/>
                </a:solidFill>
              </a:rPr>
              <a:t>FastAPI service</a:t>
            </a:r>
            <a:endParaRPr lang="en-US" sz="1500" dirty="0"/>
          </a:p>
          <a:p>
            <a:pPr algn="ctr" indent="0" marL="0">
              <a:buNone/>
            </a:pPr>
            <a:r>
              <a:rPr lang="en-US" sz="1200" dirty="0">
                <a:solidFill>
                  <a:schemeClr val="bg2"/>
                </a:solidFill>
              </a:rPr>
              <a:t>REST · demo auth · case scope</a:t>
            </a:r>
            <a:endParaRPr lang="en-US" sz="1500" dirty="0"/>
          </a:p>
        </p:txBody>
      </p:sp>
      <p:sp>
        <p:nvSpPr>
          <p:cNvPr id="7" name="LangGraph workflow"/>
          <p:cNvSpPr/>
          <p:nvPr/>
        </p:nvSpPr>
        <p:spPr>
          <a:xfrm>
            <a:off x="548640" y="3429000"/>
            <a:ext cx="3108960" cy="777240"/>
          </a:xfrm>
          <a:prstGeom prst="roundRect">
            <a:avLst>
              <a:gd name="adj" fmla="val 14118"/>
            </a:avLst>
          </a:prstGeom>
          <a:solidFill>
            <a:schemeClr val="tx2"/>
          </a:solidFill>
          <a:ln w="12700">
            <a:solidFill>
              <a:schemeClr val="tx2"/>
            </a:solidFill>
            <a:prstDash val="solid"/>
          </a:ln>
        </p:spPr>
      </p:sp>
      <p:sp>
        <p:nvSpPr>
          <p:cNvPr id="8" name="LangGraph workflow text"/>
          <p:cNvSpPr txBox="1"/>
          <p:nvPr/>
        </p:nvSpPr>
        <p:spPr>
          <a:xfrm>
            <a:off x="640080" y="3429000"/>
            <a:ext cx="2926080" cy="777240"/>
          </a:xfrm>
          <a:prstGeom prst="rect">
            <a:avLst/>
          </a:prstGeom>
          <a:noFill/>
          <a:ln/>
        </p:spPr>
        <p:txBody>
          <a:bodyPr wrap="square" lIns="508" tIns="508" rIns="508" bIns="508" rtlCol="0" anchor="ctr"/>
          <a:lstStyle/>
          <a:p>
            <a:pPr algn="ctr" indent="0" marL="0">
              <a:buNone/>
            </a:pPr>
            <a:r>
              <a:rPr lang="en-US" sz="1500" b="1" dirty="0">
                <a:solidFill>
                  <a:schemeClr val="bg1"/>
                </a:solidFill>
              </a:rPr>
              <a:t>LangGraph workflow</a:t>
            </a:r>
            <a:endParaRPr lang="en-US" sz="1500" dirty="0"/>
          </a:p>
          <a:p>
            <a:pPr algn="ctr" indent="0" marL="0">
              <a:buNone/>
            </a:pPr>
            <a:r>
              <a:rPr lang="en-US" sz="1200" dirty="0">
                <a:solidFill>
                  <a:schemeClr val="bg2"/>
                </a:solidFill>
              </a:rPr>
              <a:t>debate graph + challenge graph</a:t>
            </a:r>
            <a:endParaRPr lang="en-US" sz="1500" dirty="0"/>
          </a:p>
        </p:txBody>
      </p:sp>
      <p:sp>
        <p:nvSpPr>
          <p:cNvPr id="9" name="Shape 7"/>
          <p:cNvSpPr/>
          <p:nvPr/>
        </p:nvSpPr>
        <p:spPr>
          <a:xfrm>
            <a:off x="2103120" y="2103120"/>
            <a:ext cx="914" cy="274320"/>
          </a:xfrm>
          <a:prstGeom prst="line">
            <a:avLst/>
          </a:prstGeom>
          <a:noFill/>
          <a:ln w="22225">
            <a:solidFill>
              <a:schemeClr val="accent4"/>
            </a:solidFill>
            <a:prstDash val="solid"/>
            <a:tailEnd type="triangle"/>
          </a:ln>
        </p:spPr>
      </p:sp>
      <p:sp>
        <p:nvSpPr>
          <p:cNvPr id="10" name="Shape 8"/>
          <p:cNvSpPr/>
          <p:nvPr/>
        </p:nvSpPr>
        <p:spPr>
          <a:xfrm>
            <a:off x="2103120" y="3154680"/>
            <a:ext cx="914" cy="274320"/>
          </a:xfrm>
          <a:prstGeom prst="line">
            <a:avLst/>
          </a:prstGeom>
          <a:noFill/>
          <a:ln w="22225">
            <a:solidFill>
              <a:schemeClr val="accent4"/>
            </a:solidFill>
            <a:prstDash val="solid"/>
            <a:tailEnd type="triangle"/>
          </a:ln>
        </p:spPr>
      </p:sp>
      <p:sp>
        <p:nvSpPr>
          <p:cNvPr id="11" name="agents panel"/>
          <p:cNvSpPr/>
          <p:nvPr/>
        </p:nvSpPr>
        <p:spPr>
          <a:xfrm>
            <a:off x="4206240" y="1325880"/>
            <a:ext cx="3657600" cy="2880360"/>
          </a:xfrm>
          <a:prstGeom prst="roundRect">
            <a:avLst>
              <a:gd name="adj" fmla="val 3810"/>
            </a:avLst>
          </a:prstGeom>
          <a:solidFill>
            <a:schemeClr val="bg2"/>
          </a:solidFill>
          <a:ln w="12700">
            <a:solidFill>
              <a:schemeClr val="bg2"/>
            </a:solidFill>
            <a:prstDash val="solid"/>
          </a:ln>
        </p:spPr>
      </p:sp>
      <p:sp>
        <p:nvSpPr>
          <p:cNvPr id="12" name="agents panel text"/>
          <p:cNvSpPr txBox="1"/>
          <p:nvPr/>
        </p:nvSpPr>
        <p:spPr>
          <a:xfrm>
            <a:off x="4297680" y="1325880"/>
            <a:ext cx="3474720" cy="2880360"/>
          </a:xfrm>
          <a:prstGeom prst="rect">
            <a:avLst/>
          </a:prstGeom>
          <a:noFill/>
          <a:ln/>
        </p:spPr>
        <p:txBody>
          <a:bodyPr wrap="square" lIns="508" tIns="508" rIns="508" bIns="508" rtlCol="0" anchor="ctr"/>
          <a:lstStyle/>
          <a:p>
            <a:pPr algn="ctr" indent="0" marL="0">
              <a:buNone/>
            </a:pPr>
            <a:endParaRPr lang="en-US" sz="1500" dirty="0"/>
          </a:p>
        </p:txBody>
      </p:sp>
      <p:sp>
        <p:nvSpPr>
          <p:cNvPr id="13" name="Text 11"/>
          <p:cNvSpPr txBox="1"/>
          <p:nvPr/>
        </p:nvSpPr>
        <p:spPr>
          <a:xfrm>
            <a:off x="4343400" y="1417320"/>
            <a:ext cx="3383280" cy="365760"/>
          </a:xfrm>
          <a:prstGeom prst="rect">
            <a:avLst/>
          </a:prstGeom>
          <a:noFill/>
          <a:ln/>
        </p:spPr>
        <p:txBody>
          <a:bodyPr wrap="square" lIns="0" tIns="0" rIns="0" bIns="0" rtlCol="0" anchor="ctr"/>
          <a:lstStyle/>
          <a:p>
            <a:pPr algn="ctr" indent="0" marL="0">
              <a:buNone/>
            </a:pPr>
            <a:r>
              <a:rPr lang="en-US" sz="1600" b="1" dirty="0">
                <a:solidFill>
                  <a:schemeClr val="tx2"/>
                </a:solidFill>
              </a:rPr>
              <a:t>Agents (LLM)</a:t>
            </a:r>
            <a:endParaRPr lang="en-US" sz="1600" dirty="0"/>
          </a:p>
        </p:txBody>
      </p:sp>
      <p:sp>
        <p:nvSpPr>
          <p:cNvPr id="14" name="Rider Advocate"/>
          <p:cNvSpPr/>
          <p:nvPr/>
        </p:nvSpPr>
        <p:spPr>
          <a:xfrm>
            <a:off x="4434840" y="1874520"/>
            <a:ext cx="3200400" cy="384048"/>
          </a:xfrm>
          <a:prstGeom prst="roundRect">
            <a:avLst>
              <a:gd name="adj" fmla="val 28571"/>
            </a:avLst>
          </a:prstGeom>
          <a:solidFill>
            <a:schemeClr val="accent1"/>
          </a:solidFill>
          <a:ln w="12700">
            <a:solidFill>
              <a:schemeClr val="accent1"/>
            </a:solidFill>
            <a:prstDash val="solid"/>
          </a:ln>
        </p:spPr>
      </p:sp>
      <p:sp>
        <p:nvSpPr>
          <p:cNvPr id="15" name="Rider Advocate text"/>
          <p:cNvSpPr txBox="1"/>
          <p:nvPr/>
        </p:nvSpPr>
        <p:spPr>
          <a:xfrm>
            <a:off x="4526280" y="1874520"/>
            <a:ext cx="3017520" cy="384048"/>
          </a:xfrm>
          <a:prstGeom prst="rect">
            <a:avLst/>
          </a:prstGeom>
          <a:noFill/>
          <a:ln/>
        </p:spPr>
        <p:txBody>
          <a:bodyPr wrap="square" lIns="508" tIns="508" rIns="508" bIns="508" rtlCol="0" anchor="ctr"/>
          <a:lstStyle/>
          <a:p>
            <a:pPr algn="ctr" indent="0" marL="0">
              <a:buNone/>
            </a:pPr>
            <a:r>
              <a:rPr lang="en-US" sz="1300" b="1" dirty="0">
                <a:solidFill>
                  <a:schemeClr val="bg1"/>
                </a:solidFill>
              </a:rPr>
              <a:t>Rider Advocate</a:t>
            </a:r>
            <a:endParaRPr lang="en-US" sz="1300" dirty="0"/>
          </a:p>
        </p:txBody>
      </p:sp>
      <p:sp>
        <p:nvSpPr>
          <p:cNvPr id="16" name="Driver Advocate"/>
          <p:cNvSpPr/>
          <p:nvPr/>
        </p:nvSpPr>
        <p:spPr>
          <a:xfrm>
            <a:off x="4434840" y="2331720"/>
            <a:ext cx="3200400" cy="384048"/>
          </a:xfrm>
          <a:prstGeom prst="roundRect">
            <a:avLst>
              <a:gd name="adj" fmla="val 28571"/>
            </a:avLst>
          </a:prstGeom>
          <a:solidFill>
            <a:schemeClr val="accent1"/>
          </a:solidFill>
          <a:ln w="12700">
            <a:solidFill>
              <a:schemeClr val="accent1"/>
            </a:solidFill>
            <a:prstDash val="solid"/>
          </a:ln>
        </p:spPr>
      </p:sp>
      <p:sp>
        <p:nvSpPr>
          <p:cNvPr id="17" name="Driver Advocate text"/>
          <p:cNvSpPr txBox="1"/>
          <p:nvPr/>
        </p:nvSpPr>
        <p:spPr>
          <a:xfrm>
            <a:off x="4526280" y="2331720"/>
            <a:ext cx="3017520" cy="384048"/>
          </a:xfrm>
          <a:prstGeom prst="rect">
            <a:avLst/>
          </a:prstGeom>
          <a:noFill/>
          <a:ln/>
        </p:spPr>
        <p:txBody>
          <a:bodyPr wrap="square" lIns="508" tIns="508" rIns="508" bIns="508" rtlCol="0" anchor="ctr"/>
          <a:lstStyle/>
          <a:p>
            <a:pPr algn="ctr" indent="0" marL="0">
              <a:buNone/>
            </a:pPr>
            <a:r>
              <a:rPr lang="en-US" sz="1300" b="1" dirty="0">
                <a:solidFill>
                  <a:schemeClr val="bg1"/>
                </a:solidFill>
              </a:rPr>
              <a:t>Driver Advocate</a:t>
            </a:r>
            <a:endParaRPr lang="en-US" sz="1300" dirty="0"/>
          </a:p>
        </p:txBody>
      </p:sp>
      <p:sp>
        <p:nvSpPr>
          <p:cNvPr id="18" name="Communication Analyst"/>
          <p:cNvSpPr/>
          <p:nvPr/>
        </p:nvSpPr>
        <p:spPr>
          <a:xfrm>
            <a:off x="4434840" y="2788920"/>
            <a:ext cx="3200400" cy="384048"/>
          </a:xfrm>
          <a:prstGeom prst="roundRect">
            <a:avLst>
              <a:gd name="adj" fmla="val 28571"/>
            </a:avLst>
          </a:prstGeom>
          <a:solidFill>
            <a:schemeClr val="accent1"/>
          </a:solidFill>
          <a:ln w="12700">
            <a:solidFill>
              <a:schemeClr val="accent1"/>
            </a:solidFill>
            <a:prstDash val="solid"/>
          </a:ln>
        </p:spPr>
      </p:sp>
      <p:sp>
        <p:nvSpPr>
          <p:cNvPr id="19" name="Communication Analyst text"/>
          <p:cNvSpPr txBox="1"/>
          <p:nvPr/>
        </p:nvSpPr>
        <p:spPr>
          <a:xfrm>
            <a:off x="4526280" y="2788920"/>
            <a:ext cx="3017520" cy="384048"/>
          </a:xfrm>
          <a:prstGeom prst="rect">
            <a:avLst/>
          </a:prstGeom>
          <a:noFill/>
          <a:ln/>
        </p:spPr>
        <p:txBody>
          <a:bodyPr wrap="square" lIns="508" tIns="508" rIns="508" bIns="508" rtlCol="0" anchor="ctr"/>
          <a:lstStyle/>
          <a:p>
            <a:pPr algn="ctr" indent="0" marL="0">
              <a:buNone/>
            </a:pPr>
            <a:r>
              <a:rPr lang="en-US" sz="1300" b="1" dirty="0">
                <a:solidFill>
                  <a:schemeClr val="bg1"/>
                </a:solidFill>
              </a:rPr>
              <a:t>Communication Analyst</a:t>
            </a:r>
            <a:endParaRPr lang="en-US" sz="1300" dirty="0"/>
          </a:p>
        </p:txBody>
      </p:sp>
      <p:sp>
        <p:nvSpPr>
          <p:cNvPr id="20" name="Policy &amp; Precedent Agent"/>
          <p:cNvSpPr/>
          <p:nvPr/>
        </p:nvSpPr>
        <p:spPr>
          <a:xfrm>
            <a:off x="4434840" y="3246120"/>
            <a:ext cx="3200400" cy="384048"/>
          </a:xfrm>
          <a:prstGeom prst="roundRect">
            <a:avLst>
              <a:gd name="adj" fmla="val 28571"/>
            </a:avLst>
          </a:prstGeom>
          <a:solidFill>
            <a:schemeClr val="accent1"/>
          </a:solidFill>
          <a:ln w="12700">
            <a:solidFill>
              <a:schemeClr val="accent1"/>
            </a:solidFill>
            <a:prstDash val="solid"/>
          </a:ln>
        </p:spPr>
      </p:sp>
      <p:sp>
        <p:nvSpPr>
          <p:cNvPr id="21" name="Policy &amp; Precedent Agent text"/>
          <p:cNvSpPr txBox="1"/>
          <p:nvPr/>
        </p:nvSpPr>
        <p:spPr>
          <a:xfrm>
            <a:off x="4526280" y="3246120"/>
            <a:ext cx="3017520" cy="384048"/>
          </a:xfrm>
          <a:prstGeom prst="rect">
            <a:avLst/>
          </a:prstGeom>
          <a:noFill/>
          <a:ln/>
        </p:spPr>
        <p:txBody>
          <a:bodyPr wrap="square" lIns="508" tIns="508" rIns="508" bIns="508" rtlCol="0" anchor="ctr"/>
          <a:lstStyle/>
          <a:p>
            <a:pPr algn="ctr" indent="0" marL="0">
              <a:buNone/>
            </a:pPr>
            <a:r>
              <a:rPr lang="en-US" sz="1300" b="1" dirty="0">
                <a:solidFill>
                  <a:schemeClr val="bg1"/>
                </a:solidFill>
              </a:rPr>
              <a:t>Policy &amp; Precedent Agent</a:t>
            </a:r>
            <a:endParaRPr lang="en-US" sz="1300" dirty="0"/>
          </a:p>
        </p:txBody>
      </p:sp>
      <p:sp>
        <p:nvSpPr>
          <p:cNvPr id="22" name="Judge"/>
          <p:cNvSpPr/>
          <p:nvPr/>
        </p:nvSpPr>
        <p:spPr>
          <a:xfrm>
            <a:off x="4434840" y="3703320"/>
            <a:ext cx="3200400" cy="384048"/>
          </a:xfrm>
          <a:prstGeom prst="roundRect">
            <a:avLst>
              <a:gd name="adj" fmla="val 28571"/>
            </a:avLst>
          </a:prstGeom>
          <a:solidFill>
            <a:schemeClr val="accent1"/>
          </a:solidFill>
          <a:ln w="12700">
            <a:solidFill>
              <a:schemeClr val="accent1"/>
            </a:solidFill>
            <a:prstDash val="solid"/>
          </a:ln>
        </p:spPr>
      </p:sp>
      <p:sp>
        <p:nvSpPr>
          <p:cNvPr id="23" name="Judge text"/>
          <p:cNvSpPr txBox="1"/>
          <p:nvPr/>
        </p:nvSpPr>
        <p:spPr>
          <a:xfrm>
            <a:off x="4526280" y="3703320"/>
            <a:ext cx="3017520" cy="384048"/>
          </a:xfrm>
          <a:prstGeom prst="rect">
            <a:avLst/>
          </a:prstGeom>
          <a:noFill/>
          <a:ln/>
        </p:spPr>
        <p:txBody>
          <a:bodyPr wrap="square" lIns="508" tIns="508" rIns="508" bIns="508" rtlCol="0" anchor="ctr"/>
          <a:lstStyle/>
          <a:p>
            <a:pPr algn="ctr" indent="0" marL="0">
              <a:buNone/>
            </a:pPr>
            <a:r>
              <a:rPr lang="en-US" sz="1300" b="1" dirty="0">
                <a:solidFill>
                  <a:schemeClr val="bg1"/>
                </a:solidFill>
              </a:rPr>
              <a:t>Judge</a:t>
            </a:r>
            <a:endParaRPr lang="en-US" sz="1300" dirty="0"/>
          </a:p>
        </p:txBody>
      </p:sp>
      <p:sp>
        <p:nvSpPr>
          <p:cNvPr id="24" name="engines panel"/>
          <p:cNvSpPr/>
          <p:nvPr/>
        </p:nvSpPr>
        <p:spPr>
          <a:xfrm>
            <a:off x="8412480" y="1325880"/>
            <a:ext cx="3200400" cy="2880360"/>
          </a:xfrm>
          <a:prstGeom prst="roundRect">
            <a:avLst>
              <a:gd name="adj" fmla="val 3810"/>
            </a:avLst>
          </a:prstGeom>
          <a:solidFill>
            <a:schemeClr val="bg2"/>
          </a:solidFill>
          <a:ln w="12700">
            <a:solidFill>
              <a:schemeClr val="bg2"/>
            </a:solidFill>
            <a:prstDash val="solid"/>
          </a:ln>
        </p:spPr>
      </p:sp>
      <p:sp>
        <p:nvSpPr>
          <p:cNvPr id="25" name="engines panel text"/>
          <p:cNvSpPr txBox="1"/>
          <p:nvPr/>
        </p:nvSpPr>
        <p:spPr>
          <a:xfrm>
            <a:off x="8503920" y="1325880"/>
            <a:ext cx="3017520" cy="2880360"/>
          </a:xfrm>
          <a:prstGeom prst="rect">
            <a:avLst/>
          </a:prstGeom>
          <a:noFill/>
          <a:ln/>
        </p:spPr>
        <p:txBody>
          <a:bodyPr wrap="square" lIns="508" tIns="508" rIns="508" bIns="508" rtlCol="0" anchor="ctr"/>
          <a:lstStyle/>
          <a:p>
            <a:pPr algn="ctr" indent="0" marL="0">
              <a:buNone/>
            </a:pPr>
            <a:endParaRPr lang="en-US" sz="1500" dirty="0"/>
          </a:p>
        </p:txBody>
      </p:sp>
      <p:sp>
        <p:nvSpPr>
          <p:cNvPr id="26" name="Text 24"/>
          <p:cNvSpPr txBox="1"/>
          <p:nvPr/>
        </p:nvSpPr>
        <p:spPr>
          <a:xfrm>
            <a:off x="8549640" y="1417320"/>
            <a:ext cx="2926080" cy="365760"/>
          </a:xfrm>
          <a:prstGeom prst="rect">
            <a:avLst/>
          </a:prstGeom>
          <a:noFill/>
          <a:ln/>
        </p:spPr>
        <p:txBody>
          <a:bodyPr wrap="square" lIns="0" tIns="0" rIns="0" bIns="0" rtlCol="0" anchor="ctr"/>
          <a:lstStyle/>
          <a:p>
            <a:pPr algn="ctr" indent="0" marL="0">
              <a:buNone/>
            </a:pPr>
            <a:r>
              <a:rPr lang="en-US" sz="1600" b="1" dirty="0">
                <a:solidFill>
                  <a:schemeClr val="tx2"/>
                </a:solidFill>
              </a:rPr>
              <a:t>Deterministic engines</a:t>
            </a:r>
            <a:endParaRPr lang="en-US" sz="1600" dirty="0"/>
          </a:p>
        </p:txBody>
      </p:sp>
      <p:sp>
        <p:nvSpPr>
          <p:cNvPr id="27" name="Validator"/>
          <p:cNvSpPr/>
          <p:nvPr/>
        </p:nvSpPr>
        <p:spPr>
          <a:xfrm>
            <a:off x="8641080" y="1874520"/>
            <a:ext cx="2743200" cy="384048"/>
          </a:xfrm>
          <a:prstGeom prst="roundRect">
            <a:avLst>
              <a:gd name="adj" fmla="val 28571"/>
            </a:avLst>
          </a:prstGeom>
          <a:solidFill>
            <a:schemeClr val="bg1"/>
          </a:solidFill>
          <a:ln w="12700">
            <a:solidFill>
              <a:schemeClr val="accent4"/>
            </a:solidFill>
            <a:prstDash val="solid"/>
          </a:ln>
        </p:spPr>
      </p:sp>
      <p:sp>
        <p:nvSpPr>
          <p:cNvPr id="28" name="Validator text"/>
          <p:cNvSpPr txBox="1"/>
          <p:nvPr/>
        </p:nvSpPr>
        <p:spPr>
          <a:xfrm>
            <a:off x="8732520" y="1874520"/>
            <a:ext cx="2560320" cy="384048"/>
          </a:xfrm>
          <a:prstGeom prst="rect">
            <a:avLst/>
          </a:prstGeom>
          <a:noFill/>
          <a:ln/>
        </p:spPr>
        <p:txBody>
          <a:bodyPr wrap="square" lIns="508" tIns="508" rIns="508" bIns="508" rtlCol="0" anchor="ctr"/>
          <a:lstStyle/>
          <a:p>
            <a:pPr algn="ctr" indent="0" marL="0">
              <a:buNone/>
            </a:pPr>
            <a:r>
              <a:rPr lang="en-US" sz="1300" b="1" dirty="0">
                <a:solidFill>
                  <a:schemeClr val="tx2"/>
                </a:solidFill>
              </a:rPr>
              <a:t>Validator</a:t>
            </a:r>
            <a:endParaRPr lang="en-US" sz="1300" dirty="0"/>
          </a:p>
        </p:txBody>
      </p:sp>
      <p:sp>
        <p:nvSpPr>
          <p:cNvPr id="29" name="Policy rule (dual key)"/>
          <p:cNvSpPr/>
          <p:nvPr/>
        </p:nvSpPr>
        <p:spPr>
          <a:xfrm>
            <a:off x="8641080" y="2331720"/>
            <a:ext cx="2743200" cy="384048"/>
          </a:xfrm>
          <a:prstGeom prst="roundRect">
            <a:avLst>
              <a:gd name="adj" fmla="val 28571"/>
            </a:avLst>
          </a:prstGeom>
          <a:solidFill>
            <a:schemeClr val="bg1"/>
          </a:solidFill>
          <a:ln w="12700">
            <a:solidFill>
              <a:schemeClr val="accent4"/>
            </a:solidFill>
            <a:prstDash val="solid"/>
          </a:ln>
        </p:spPr>
      </p:sp>
      <p:sp>
        <p:nvSpPr>
          <p:cNvPr id="30" name="Policy rule (dual key) text"/>
          <p:cNvSpPr txBox="1"/>
          <p:nvPr/>
        </p:nvSpPr>
        <p:spPr>
          <a:xfrm>
            <a:off x="8732520" y="2331720"/>
            <a:ext cx="2560320" cy="384048"/>
          </a:xfrm>
          <a:prstGeom prst="rect">
            <a:avLst/>
          </a:prstGeom>
          <a:noFill/>
          <a:ln/>
        </p:spPr>
        <p:txBody>
          <a:bodyPr wrap="square" lIns="508" tIns="508" rIns="508" bIns="508" rtlCol="0" anchor="ctr"/>
          <a:lstStyle/>
          <a:p>
            <a:pPr algn="ctr" indent="0" marL="0">
              <a:buNone/>
            </a:pPr>
            <a:r>
              <a:rPr lang="en-US" sz="1300" b="1" dirty="0">
                <a:solidFill>
                  <a:schemeClr val="tx2"/>
                </a:solidFill>
              </a:rPr>
              <a:t>Policy rule (dual key)</a:t>
            </a:r>
            <a:endParaRPr lang="en-US" sz="1300" dirty="0"/>
          </a:p>
        </p:txBody>
      </p:sp>
      <p:sp>
        <p:nvSpPr>
          <p:cNvPr id="31" name="Confidence engine"/>
          <p:cNvSpPr/>
          <p:nvPr/>
        </p:nvSpPr>
        <p:spPr>
          <a:xfrm>
            <a:off x="8641080" y="2788920"/>
            <a:ext cx="2743200" cy="384048"/>
          </a:xfrm>
          <a:prstGeom prst="roundRect">
            <a:avLst>
              <a:gd name="adj" fmla="val 28571"/>
            </a:avLst>
          </a:prstGeom>
          <a:solidFill>
            <a:schemeClr val="bg1"/>
          </a:solidFill>
          <a:ln w="12700">
            <a:solidFill>
              <a:schemeClr val="accent4"/>
            </a:solidFill>
            <a:prstDash val="solid"/>
          </a:ln>
        </p:spPr>
      </p:sp>
      <p:sp>
        <p:nvSpPr>
          <p:cNvPr id="32" name="Confidence engine text"/>
          <p:cNvSpPr txBox="1"/>
          <p:nvPr/>
        </p:nvSpPr>
        <p:spPr>
          <a:xfrm>
            <a:off x="8732520" y="2788920"/>
            <a:ext cx="2560320" cy="384048"/>
          </a:xfrm>
          <a:prstGeom prst="rect">
            <a:avLst/>
          </a:prstGeom>
          <a:noFill/>
          <a:ln/>
        </p:spPr>
        <p:txBody>
          <a:bodyPr wrap="square" lIns="508" tIns="508" rIns="508" bIns="508" rtlCol="0" anchor="ctr"/>
          <a:lstStyle/>
          <a:p>
            <a:pPr algn="ctr" indent="0" marL="0">
              <a:buNone/>
            </a:pPr>
            <a:r>
              <a:rPr lang="en-US" sz="1300" b="1" dirty="0">
                <a:solidFill>
                  <a:schemeClr val="tx2"/>
                </a:solidFill>
              </a:rPr>
              <a:t>Confidence engine</a:t>
            </a:r>
            <a:endParaRPr lang="en-US" sz="1300" dirty="0"/>
          </a:p>
        </p:txBody>
      </p:sp>
      <p:sp>
        <p:nvSpPr>
          <p:cNvPr id="33" name="Refund engine"/>
          <p:cNvSpPr/>
          <p:nvPr/>
        </p:nvSpPr>
        <p:spPr>
          <a:xfrm>
            <a:off x="8641080" y="3246120"/>
            <a:ext cx="2743200" cy="384048"/>
          </a:xfrm>
          <a:prstGeom prst="roundRect">
            <a:avLst>
              <a:gd name="adj" fmla="val 28571"/>
            </a:avLst>
          </a:prstGeom>
          <a:solidFill>
            <a:schemeClr val="bg1"/>
          </a:solidFill>
          <a:ln w="12700">
            <a:solidFill>
              <a:schemeClr val="accent4"/>
            </a:solidFill>
            <a:prstDash val="solid"/>
          </a:ln>
        </p:spPr>
      </p:sp>
      <p:sp>
        <p:nvSpPr>
          <p:cNvPr id="34" name="Refund engine text"/>
          <p:cNvSpPr txBox="1"/>
          <p:nvPr/>
        </p:nvSpPr>
        <p:spPr>
          <a:xfrm>
            <a:off x="8732520" y="3246120"/>
            <a:ext cx="2560320" cy="384048"/>
          </a:xfrm>
          <a:prstGeom prst="rect">
            <a:avLst/>
          </a:prstGeom>
          <a:noFill/>
          <a:ln/>
        </p:spPr>
        <p:txBody>
          <a:bodyPr wrap="square" lIns="508" tIns="508" rIns="508" bIns="508" rtlCol="0" anchor="ctr"/>
          <a:lstStyle/>
          <a:p>
            <a:pPr algn="ctr" indent="0" marL="0">
              <a:buNone/>
            </a:pPr>
            <a:r>
              <a:rPr lang="en-US" sz="1300" b="1" dirty="0">
                <a:solidFill>
                  <a:schemeClr val="tx2"/>
                </a:solidFill>
              </a:rPr>
              <a:t>Refund engine</a:t>
            </a:r>
            <a:endParaRPr lang="en-US" sz="1300" dirty="0"/>
          </a:p>
        </p:txBody>
      </p:sp>
      <p:sp>
        <p:nvSpPr>
          <p:cNvPr id="35" name="Human-review routing"/>
          <p:cNvSpPr/>
          <p:nvPr/>
        </p:nvSpPr>
        <p:spPr>
          <a:xfrm>
            <a:off x="8641080" y="3703320"/>
            <a:ext cx="2743200" cy="384048"/>
          </a:xfrm>
          <a:prstGeom prst="roundRect">
            <a:avLst>
              <a:gd name="adj" fmla="val 28571"/>
            </a:avLst>
          </a:prstGeom>
          <a:solidFill>
            <a:schemeClr val="bg1"/>
          </a:solidFill>
          <a:ln w="12700">
            <a:solidFill>
              <a:schemeClr val="accent4"/>
            </a:solidFill>
            <a:prstDash val="solid"/>
          </a:ln>
        </p:spPr>
      </p:sp>
      <p:sp>
        <p:nvSpPr>
          <p:cNvPr id="36" name="Human-review routing text"/>
          <p:cNvSpPr txBox="1"/>
          <p:nvPr/>
        </p:nvSpPr>
        <p:spPr>
          <a:xfrm>
            <a:off x="8732520" y="3703320"/>
            <a:ext cx="2560320" cy="384048"/>
          </a:xfrm>
          <a:prstGeom prst="rect">
            <a:avLst/>
          </a:prstGeom>
          <a:noFill/>
          <a:ln/>
        </p:spPr>
        <p:txBody>
          <a:bodyPr wrap="square" lIns="508" tIns="508" rIns="508" bIns="508" rtlCol="0" anchor="ctr"/>
          <a:lstStyle/>
          <a:p>
            <a:pPr algn="ctr" indent="0" marL="0">
              <a:buNone/>
            </a:pPr>
            <a:r>
              <a:rPr lang="en-US" sz="1300" b="1" dirty="0">
                <a:solidFill>
                  <a:schemeClr val="tx2"/>
                </a:solidFill>
              </a:rPr>
              <a:t>Human-review routing</a:t>
            </a:r>
            <a:endParaRPr lang="en-US" sz="1300" dirty="0"/>
          </a:p>
        </p:txBody>
      </p:sp>
      <p:sp>
        <p:nvSpPr>
          <p:cNvPr id="37" name="Shape 35"/>
          <p:cNvSpPr/>
          <p:nvPr/>
        </p:nvSpPr>
        <p:spPr>
          <a:xfrm>
            <a:off x="3657600" y="3813048"/>
            <a:ext cx="548640" cy="914"/>
          </a:xfrm>
          <a:prstGeom prst="line">
            <a:avLst/>
          </a:prstGeom>
          <a:noFill/>
          <a:ln w="22225">
            <a:solidFill>
              <a:schemeClr val="accent4"/>
            </a:solidFill>
            <a:prstDash val="solid"/>
            <a:tailEnd type="triangle"/>
          </a:ln>
        </p:spPr>
      </p:sp>
      <p:sp>
        <p:nvSpPr>
          <p:cNvPr id="38" name="Shape 36"/>
          <p:cNvSpPr/>
          <p:nvPr/>
        </p:nvSpPr>
        <p:spPr>
          <a:xfrm>
            <a:off x="7863840" y="2788920"/>
            <a:ext cx="548640" cy="914"/>
          </a:xfrm>
          <a:prstGeom prst="line">
            <a:avLst/>
          </a:prstGeom>
          <a:noFill/>
          <a:ln w="22225">
            <a:solidFill>
              <a:schemeClr val="accent4"/>
            </a:solidFill>
            <a:prstDash val="solid"/>
          </a:ln>
        </p:spPr>
      </p:sp>
      <p:sp>
        <p:nvSpPr>
          <p:cNvPr id="39" name="SQLite (WAL) · 23 tables"/>
          <p:cNvSpPr/>
          <p:nvPr/>
        </p:nvSpPr>
        <p:spPr>
          <a:xfrm>
            <a:off x="548640" y="4800600"/>
            <a:ext cx="5120640" cy="1051560"/>
          </a:xfrm>
          <a:prstGeom prst="roundRect">
            <a:avLst>
              <a:gd name="adj" fmla="val 10435"/>
            </a:avLst>
          </a:prstGeom>
          <a:solidFill>
            <a:schemeClr val="bg1"/>
          </a:solidFill>
          <a:ln w="19050">
            <a:solidFill>
              <a:schemeClr val="tx2"/>
            </a:solidFill>
            <a:prstDash val="solid"/>
          </a:ln>
        </p:spPr>
      </p:sp>
      <p:sp>
        <p:nvSpPr>
          <p:cNvPr id="40" name="SQLite (WAL) · 23 tables text"/>
          <p:cNvSpPr txBox="1"/>
          <p:nvPr/>
        </p:nvSpPr>
        <p:spPr>
          <a:xfrm>
            <a:off x="640080" y="4800600"/>
            <a:ext cx="4937760" cy="1051560"/>
          </a:xfrm>
          <a:prstGeom prst="rect">
            <a:avLst/>
          </a:prstGeom>
          <a:noFill/>
          <a:ln/>
        </p:spPr>
        <p:txBody>
          <a:bodyPr wrap="square" lIns="508" tIns="508" rIns="508" bIns="508" rtlCol="0" anchor="ctr"/>
          <a:lstStyle/>
          <a:p>
            <a:pPr algn="ctr" indent="0" marL="0">
              <a:buNone/>
            </a:pPr>
            <a:r>
              <a:rPr lang="en-US" sz="1500" b="1" dirty="0">
                <a:solidFill>
                  <a:schemeClr val="tx2"/>
                </a:solidFill>
              </a:rPr>
              <a:t>SQLite (WAL) · 23 tables</a:t>
            </a:r>
            <a:endParaRPr lang="en-US" sz="1500" dirty="0"/>
          </a:p>
          <a:p>
            <a:pPr algn="ctr" indent="0" marL="0">
              <a:buNone/>
            </a:pPr>
            <a:r>
              <a:rPr lang="en-US" sz="1200" dirty="0">
                <a:solidFill>
                  <a:schemeClr val="tx2"/>
                </a:solidFill>
              </a:rPr>
              <a:t>cases · evidence · audit · policy · precedents · trips</a:t>
            </a:r>
            <a:endParaRPr lang="en-US" sz="1500" dirty="0"/>
          </a:p>
        </p:txBody>
      </p:sp>
      <p:sp>
        <p:nvSpPr>
          <p:cNvPr id="41" name="LLM provider"/>
          <p:cNvSpPr/>
          <p:nvPr/>
        </p:nvSpPr>
        <p:spPr>
          <a:xfrm>
            <a:off x="6492240" y="4800600"/>
            <a:ext cx="5120640" cy="1051560"/>
          </a:xfrm>
          <a:prstGeom prst="roundRect">
            <a:avLst>
              <a:gd name="adj" fmla="val 10435"/>
            </a:avLst>
          </a:prstGeom>
          <a:solidFill>
            <a:schemeClr val="accent2"/>
          </a:solidFill>
          <a:ln w="12700">
            <a:solidFill>
              <a:schemeClr val="accent2"/>
            </a:solidFill>
            <a:prstDash val="solid"/>
          </a:ln>
        </p:spPr>
      </p:sp>
      <p:sp>
        <p:nvSpPr>
          <p:cNvPr id="42" name="LLM provider text"/>
          <p:cNvSpPr txBox="1"/>
          <p:nvPr/>
        </p:nvSpPr>
        <p:spPr>
          <a:xfrm>
            <a:off x="6583680" y="4800600"/>
            <a:ext cx="4937760" cy="1051560"/>
          </a:xfrm>
          <a:prstGeom prst="rect">
            <a:avLst/>
          </a:prstGeom>
          <a:noFill/>
          <a:ln/>
        </p:spPr>
        <p:txBody>
          <a:bodyPr wrap="square" lIns="508" tIns="508" rIns="508" bIns="508" rtlCol="0" anchor="ctr"/>
          <a:lstStyle/>
          <a:p>
            <a:pPr algn="ctr" indent="0" marL="0">
              <a:buNone/>
            </a:pPr>
            <a:r>
              <a:rPr lang="en-US" sz="1500" b="1" dirty="0">
                <a:solidFill>
                  <a:schemeClr val="tx1"/>
                </a:solidFill>
              </a:rPr>
              <a:t>LLM provider</a:t>
            </a:r>
            <a:endParaRPr lang="en-US" sz="1500" dirty="0"/>
          </a:p>
          <a:p>
            <a:pPr algn="ctr" indent="0" marL="0">
              <a:buNone/>
            </a:pPr>
            <a:r>
              <a:rPr lang="en-US" sz="1200" dirty="0">
                <a:solidFill>
                  <a:schemeClr val="tx1"/>
                </a:solidFill>
              </a:rPr>
              <a:t>Anthropic SDK · OpenAI-compatible (DeepSeek, Hunyuan)</a:t>
            </a:r>
            <a:endParaRPr lang="en-US" sz="1500" dirty="0"/>
          </a:p>
        </p:txBody>
      </p:sp>
      <p:sp>
        <p:nvSpPr>
          <p:cNvPr id="43" name="Shape 41"/>
          <p:cNvSpPr/>
          <p:nvPr/>
        </p:nvSpPr>
        <p:spPr>
          <a:xfrm flipH="1">
            <a:off x="4114800" y="4206240"/>
            <a:ext cx="1920240" cy="594360"/>
          </a:xfrm>
          <a:prstGeom prst="line">
            <a:avLst/>
          </a:prstGeom>
          <a:noFill/>
          <a:ln w="22225">
            <a:solidFill>
              <a:schemeClr val="accent4"/>
            </a:solidFill>
            <a:prstDash val="solid"/>
            <a:tailEnd type="triangle"/>
          </a:ln>
        </p:spPr>
      </p:sp>
      <p:sp>
        <p:nvSpPr>
          <p:cNvPr id="44" name="Text 42"/>
          <p:cNvSpPr txBox="1"/>
          <p:nvPr/>
        </p:nvSpPr>
        <p:spPr>
          <a:xfrm>
            <a:off x="2743200" y="4224528"/>
            <a:ext cx="1828800" cy="320040"/>
          </a:xfrm>
          <a:prstGeom prst="rect">
            <a:avLst/>
          </a:prstGeom>
          <a:noFill/>
          <a:ln/>
        </p:spPr>
        <p:txBody>
          <a:bodyPr wrap="square" lIns="0" tIns="0" rIns="0" bIns="0" rtlCol="0" anchor="ctr"/>
          <a:lstStyle/>
          <a:p>
            <a:pPr algn="r" indent="0" marL="0">
              <a:buNone/>
            </a:pPr>
            <a:r>
              <a:rPr lang="en-US" sz="1100" i="1" dirty="0">
                <a:solidFill>
                  <a:schemeClr val="accent4"/>
                </a:solidFill>
              </a:rPr>
              <a:t>read-only tools</a:t>
            </a:r>
            <a:endParaRPr lang="en-US" sz="1100" dirty="0"/>
          </a:p>
        </p:txBody>
      </p:sp>
      <p:sp>
        <p:nvSpPr>
          <p:cNvPr id="45" name="Shape 43"/>
          <p:cNvSpPr/>
          <p:nvPr/>
        </p:nvSpPr>
        <p:spPr>
          <a:xfrm>
            <a:off x="6035040" y="4206240"/>
            <a:ext cx="1828800" cy="594360"/>
          </a:xfrm>
          <a:prstGeom prst="line">
            <a:avLst/>
          </a:prstGeom>
          <a:noFill/>
          <a:ln w="22225">
            <a:solidFill>
              <a:schemeClr val="accent4"/>
            </a:solidFill>
            <a:prstDash val="solid"/>
            <a:tailEnd type="triangle"/>
          </a:ln>
        </p:spPr>
      </p:sp>
      <p:sp>
        <p:nvSpPr>
          <p:cNvPr id="46" name="Text 44"/>
          <p:cNvSpPr txBox="1"/>
          <p:nvPr/>
        </p:nvSpPr>
        <p:spPr>
          <a:xfrm>
            <a:off x="7498080" y="4224528"/>
            <a:ext cx="1828800" cy="320040"/>
          </a:xfrm>
          <a:prstGeom prst="rect">
            <a:avLst/>
          </a:prstGeom>
          <a:noFill/>
          <a:ln/>
        </p:spPr>
        <p:txBody>
          <a:bodyPr wrap="square" lIns="0" tIns="0" rIns="0" bIns="0" rtlCol="0" anchor="ctr"/>
          <a:lstStyle/>
          <a:p>
            <a:pPr algn="l" indent="0" marL="0">
              <a:buNone/>
            </a:pPr>
            <a:r>
              <a:rPr lang="en-US" sz="1100" i="1" dirty="0">
                <a:solidFill>
                  <a:schemeClr val="accent4"/>
                </a:solidFill>
              </a:rPr>
              <a:t>model calls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2"/>
                </a:solidFill>
              </a:rPr>
              <a:t>Every dispute is debated, up to three rounds</a:t>
            </a:r>
            <a:endParaRPr lang="en-US" sz="3200" dirty="0"/>
          </a:p>
        </p:txBody>
      </p:sp>
      <p:sp>
        <p:nvSpPr>
          <p:cNvPr id="3" name="Prepare round"/>
          <p:cNvSpPr/>
          <p:nvPr/>
        </p:nvSpPr>
        <p:spPr>
          <a:xfrm>
            <a:off x="548640" y="1554480"/>
            <a:ext cx="1691640" cy="914400"/>
          </a:xfrm>
          <a:prstGeom prst="roundRect">
            <a:avLst>
              <a:gd name="adj" fmla="val 12000"/>
            </a:avLst>
          </a:prstGeom>
          <a:solidFill>
            <a:schemeClr val="tx2"/>
          </a:solidFill>
          <a:ln w="12700">
            <a:solidFill>
              <a:schemeClr val="tx2"/>
            </a:solidFill>
            <a:prstDash val="solid"/>
          </a:ln>
        </p:spPr>
      </p:sp>
      <p:sp>
        <p:nvSpPr>
          <p:cNvPr id="4" name="Prepare round text"/>
          <p:cNvSpPr txBox="1"/>
          <p:nvPr/>
        </p:nvSpPr>
        <p:spPr>
          <a:xfrm>
            <a:off x="640080" y="1554480"/>
            <a:ext cx="1508760" cy="914400"/>
          </a:xfrm>
          <a:prstGeom prst="rect">
            <a:avLst/>
          </a:prstGeom>
          <a:noFill/>
          <a:ln/>
        </p:spPr>
        <p:txBody>
          <a:bodyPr wrap="square" lIns="508" tIns="508" rIns="508" bIns="508" rtlCol="0" anchor="ctr"/>
          <a:lstStyle/>
          <a:p>
            <a:pPr algn="ctr" indent="0" marL="0">
              <a:buNone/>
            </a:pPr>
            <a:r>
              <a:rPr lang="en-US" sz="1500" b="1" dirty="0">
                <a:solidFill>
                  <a:schemeClr val="bg1"/>
                </a:solidFill>
              </a:rPr>
              <a:t>Prepare round</a:t>
            </a:r>
            <a:endParaRPr lang="en-US" sz="1500" dirty="0"/>
          </a:p>
        </p:txBody>
      </p:sp>
      <p:sp>
        <p:nvSpPr>
          <p:cNvPr id="5" name="Advocates"/>
          <p:cNvSpPr/>
          <p:nvPr/>
        </p:nvSpPr>
        <p:spPr>
          <a:xfrm>
            <a:off x="2423160" y="1554480"/>
            <a:ext cx="1691640" cy="914400"/>
          </a:xfrm>
          <a:prstGeom prst="roundRect">
            <a:avLst>
              <a:gd name="adj" fmla="val 12000"/>
            </a:avLst>
          </a:prstGeom>
          <a:solidFill>
            <a:schemeClr val="accent1"/>
          </a:solidFill>
          <a:ln w="12700">
            <a:solidFill>
              <a:schemeClr val="accent1"/>
            </a:solidFill>
            <a:prstDash val="solid"/>
          </a:ln>
        </p:spPr>
      </p:sp>
      <p:sp>
        <p:nvSpPr>
          <p:cNvPr id="6" name="Advocates text"/>
          <p:cNvSpPr txBox="1"/>
          <p:nvPr/>
        </p:nvSpPr>
        <p:spPr>
          <a:xfrm>
            <a:off x="2514600" y="1554480"/>
            <a:ext cx="1508760" cy="914400"/>
          </a:xfrm>
          <a:prstGeom prst="rect">
            <a:avLst/>
          </a:prstGeom>
          <a:noFill/>
          <a:ln/>
        </p:spPr>
        <p:txBody>
          <a:bodyPr wrap="square" lIns="508" tIns="508" rIns="508" bIns="508" rtlCol="0" anchor="ctr"/>
          <a:lstStyle/>
          <a:p>
            <a:pPr algn="ctr" indent="0" marL="0">
              <a:buNone/>
            </a:pPr>
            <a:r>
              <a:rPr lang="en-US" sz="1500" b="1" dirty="0">
                <a:solidFill>
                  <a:schemeClr val="bg1"/>
                </a:solidFill>
              </a:rPr>
              <a:t>Advocates</a:t>
            </a:r>
            <a:endParaRPr lang="en-US" sz="1500" dirty="0"/>
          </a:p>
          <a:p>
            <a:pPr algn="ctr" indent="0" marL="0">
              <a:buNone/>
            </a:pPr>
            <a:r>
              <a:rPr lang="en-US" sz="1200" dirty="0">
                <a:solidFill>
                  <a:schemeClr val="bg1"/>
                </a:solidFill>
              </a:rPr>
              <a:t>Rider ∥ Driver</a:t>
            </a:r>
            <a:endParaRPr lang="en-US" sz="1500" dirty="0"/>
          </a:p>
        </p:txBody>
      </p:sp>
      <p:sp>
        <p:nvSpPr>
          <p:cNvPr id="7" name="Evidence gate"/>
          <p:cNvSpPr/>
          <p:nvPr/>
        </p:nvSpPr>
        <p:spPr>
          <a:xfrm>
            <a:off x="4297680" y="1554480"/>
            <a:ext cx="1691640" cy="914400"/>
          </a:xfrm>
          <a:prstGeom prst="roundRect">
            <a:avLst>
              <a:gd name="adj" fmla="val 12000"/>
            </a:avLst>
          </a:prstGeom>
          <a:solidFill>
            <a:schemeClr val="tx2"/>
          </a:solidFill>
          <a:ln w="12700">
            <a:solidFill>
              <a:schemeClr val="tx2"/>
            </a:solidFill>
            <a:prstDash val="solid"/>
          </a:ln>
        </p:spPr>
      </p:sp>
      <p:sp>
        <p:nvSpPr>
          <p:cNvPr id="8" name="Evidence gate text"/>
          <p:cNvSpPr txBox="1"/>
          <p:nvPr/>
        </p:nvSpPr>
        <p:spPr>
          <a:xfrm>
            <a:off x="4389120" y="1554480"/>
            <a:ext cx="1508760" cy="914400"/>
          </a:xfrm>
          <a:prstGeom prst="rect">
            <a:avLst/>
          </a:prstGeom>
          <a:noFill/>
          <a:ln/>
        </p:spPr>
        <p:txBody>
          <a:bodyPr wrap="square" lIns="508" tIns="508" rIns="508" bIns="508" rtlCol="0" anchor="ctr"/>
          <a:lstStyle/>
          <a:p>
            <a:pPr algn="ctr" indent="0" marL="0">
              <a:buNone/>
            </a:pPr>
            <a:r>
              <a:rPr lang="en-US" sz="1500" b="1" dirty="0">
                <a:solidFill>
                  <a:schemeClr val="bg1"/>
                </a:solidFill>
              </a:rPr>
              <a:t>Evidence gate</a:t>
            </a:r>
            <a:endParaRPr lang="en-US" sz="1500" dirty="0"/>
          </a:p>
        </p:txBody>
      </p:sp>
      <p:sp>
        <p:nvSpPr>
          <p:cNvPr id="9" name="Validator"/>
          <p:cNvSpPr/>
          <p:nvPr/>
        </p:nvSpPr>
        <p:spPr>
          <a:xfrm>
            <a:off x="6172200" y="1554480"/>
            <a:ext cx="1691640" cy="914400"/>
          </a:xfrm>
          <a:prstGeom prst="roundRect">
            <a:avLst>
              <a:gd name="adj" fmla="val 12000"/>
            </a:avLst>
          </a:prstGeom>
          <a:solidFill>
            <a:schemeClr val="tx2"/>
          </a:solidFill>
          <a:ln w="12700">
            <a:solidFill>
              <a:schemeClr val="tx2"/>
            </a:solidFill>
            <a:prstDash val="solid"/>
          </a:ln>
        </p:spPr>
      </p:sp>
      <p:sp>
        <p:nvSpPr>
          <p:cNvPr id="10" name="Validator text"/>
          <p:cNvSpPr txBox="1"/>
          <p:nvPr/>
        </p:nvSpPr>
        <p:spPr>
          <a:xfrm>
            <a:off x="6263640" y="1554480"/>
            <a:ext cx="1508760" cy="914400"/>
          </a:xfrm>
          <a:prstGeom prst="rect">
            <a:avLst/>
          </a:prstGeom>
          <a:noFill/>
          <a:ln/>
        </p:spPr>
        <p:txBody>
          <a:bodyPr wrap="square" lIns="508" tIns="508" rIns="508" bIns="508" rtlCol="0" anchor="ctr"/>
          <a:lstStyle/>
          <a:p>
            <a:pPr algn="ctr" indent="0" marL="0">
              <a:buNone/>
            </a:pPr>
            <a:r>
              <a:rPr lang="en-US" sz="1500" b="1" dirty="0">
                <a:solidFill>
                  <a:schemeClr val="bg1"/>
                </a:solidFill>
              </a:rPr>
              <a:t>Validator</a:t>
            </a:r>
            <a:endParaRPr lang="en-US" sz="1500" dirty="0"/>
          </a:p>
        </p:txBody>
      </p:sp>
      <p:sp>
        <p:nvSpPr>
          <p:cNvPr id="11" name="Policy &amp; Precedent"/>
          <p:cNvSpPr/>
          <p:nvPr/>
        </p:nvSpPr>
        <p:spPr>
          <a:xfrm>
            <a:off x="8046720" y="1554480"/>
            <a:ext cx="1691640" cy="914400"/>
          </a:xfrm>
          <a:prstGeom prst="roundRect">
            <a:avLst>
              <a:gd name="adj" fmla="val 12000"/>
            </a:avLst>
          </a:prstGeom>
          <a:solidFill>
            <a:schemeClr val="accent1"/>
          </a:solidFill>
          <a:ln w="12700">
            <a:solidFill>
              <a:schemeClr val="accent1"/>
            </a:solidFill>
            <a:prstDash val="solid"/>
          </a:ln>
        </p:spPr>
      </p:sp>
      <p:sp>
        <p:nvSpPr>
          <p:cNvPr id="12" name="Policy &amp; Precedent text"/>
          <p:cNvSpPr txBox="1"/>
          <p:nvPr/>
        </p:nvSpPr>
        <p:spPr>
          <a:xfrm>
            <a:off x="8138160" y="1554480"/>
            <a:ext cx="1508760" cy="914400"/>
          </a:xfrm>
          <a:prstGeom prst="rect">
            <a:avLst/>
          </a:prstGeom>
          <a:noFill/>
          <a:ln/>
        </p:spPr>
        <p:txBody>
          <a:bodyPr wrap="square" lIns="508" tIns="508" rIns="508" bIns="508" rtlCol="0" anchor="ctr"/>
          <a:lstStyle/>
          <a:p>
            <a:pPr algn="ctr" indent="0" marL="0">
              <a:buNone/>
            </a:pPr>
            <a:r>
              <a:rPr lang="en-US" sz="1500" b="1" dirty="0">
                <a:solidFill>
                  <a:schemeClr val="bg1"/>
                </a:solidFill>
              </a:rPr>
              <a:t>Policy &amp; Precedent</a:t>
            </a:r>
            <a:endParaRPr lang="en-US" sz="1500" dirty="0"/>
          </a:p>
        </p:txBody>
      </p:sp>
      <p:sp>
        <p:nvSpPr>
          <p:cNvPr id="13" name="Judge"/>
          <p:cNvSpPr/>
          <p:nvPr/>
        </p:nvSpPr>
        <p:spPr>
          <a:xfrm>
            <a:off x="9921240" y="1554480"/>
            <a:ext cx="1691640" cy="914400"/>
          </a:xfrm>
          <a:prstGeom prst="roundRect">
            <a:avLst>
              <a:gd name="adj" fmla="val 12000"/>
            </a:avLst>
          </a:prstGeom>
          <a:solidFill>
            <a:schemeClr val="accent1"/>
          </a:solidFill>
          <a:ln w="12700">
            <a:solidFill>
              <a:schemeClr val="accent1"/>
            </a:solidFill>
            <a:prstDash val="solid"/>
          </a:ln>
        </p:spPr>
      </p:sp>
      <p:sp>
        <p:nvSpPr>
          <p:cNvPr id="14" name="Judge text"/>
          <p:cNvSpPr txBox="1"/>
          <p:nvPr/>
        </p:nvSpPr>
        <p:spPr>
          <a:xfrm>
            <a:off x="10012680" y="1554480"/>
            <a:ext cx="1508760" cy="914400"/>
          </a:xfrm>
          <a:prstGeom prst="rect">
            <a:avLst/>
          </a:prstGeom>
          <a:noFill/>
          <a:ln/>
        </p:spPr>
        <p:txBody>
          <a:bodyPr wrap="square" lIns="508" tIns="508" rIns="508" bIns="508" rtlCol="0" anchor="ctr"/>
          <a:lstStyle/>
          <a:p>
            <a:pPr algn="ctr" indent="0" marL="0">
              <a:buNone/>
            </a:pPr>
            <a:r>
              <a:rPr lang="en-US" sz="1500" b="1" dirty="0">
                <a:solidFill>
                  <a:schemeClr val="bg1"/>
                </a:solidFill>
              </a:rPr>
              <a:t>Judge</a:t>
            </a:r>
            <a:endParaRPr lang="en-US" sz="1500" dirty="0"/>
          </a:p>
        </p:txBody>
      </p:sp>
      <p:sp>
        <p:nvSpPr>
          <p:cNvPr id="15" name="Shape 13"/>
          <p:cNvSpPr/>
          <p:nvPr/>
        </p:nvSpPr>
        <p:spPr>
          <a:xfrm>
            <a:off x="2240280" y="2011680"/>
            <a:ext cx="182880" cy="914"/>
          </a:xfrm>
          <a:prstGeom prst="line">
            <a:avLst/>
          </a:prstGeom>
          <a:noFill/>
          <a:ln w="22225">
            <a:solidFill>
              <a:schemeClr val="accent4"/>
            </a:solidFill>
            <a:prstDash val="solid"/>
            <a:tailEnd type="triangle"/>
          </a:ln>
        </p:spPr>
      </p:sp>
      <p:sp>
        <p:nvSpPr>
          <p:cNvPr id="16" name="Shape 14"/>
          <p:cNvSpPr/>
          <p:nvPr/>
        </p:nvSpPr>
        <p:spPr>
          <a:xfrm>
            <a:off x="4114800" y="2011680"/>
            <a:ext cx="182880" cy="914"/>
          </a:xfrm>
          <a:prstGeom prst="line">
            <a:avLst/>
          </a:prstGeom>
          <a:noFill/>
          <a:ln w="22225">
            <a:solidFill>
              <a:schemeClr val="accent4"/>
            </a:solidFill>
            <a:prstDash val="solid"/>
            <a:tailEnd type="triangle"/>
          </a:ln>
        </p:spPr>
      </p:sp>
      <p:sp>
        <p:nvSpPr>
          <p:cNvPr id="17" name="Shape 15"/>
          <p:cNvSpPr/>
          <p:nvPr/>
        </p:nvSpPr>
        <p:spPr>
          <a:xfrm>
            <a:off x="5989320" y="2011680"/>
            <a:ext cx="182880" cy="914"/>
          </a:xfrm>
          <a:prstGeom prst="line">
            <a:avLst/>
          </a:prstGeom>
          <a:noFill/>
          <a:ln w="22225">
            <a:solidFill>
              <a:schemeClr val="accent4"/>
            </a:solidFill>
            <a:prstDash val="solid"/>
            <a:tailEnd type="triangle"/>
          </a:ln>
        </p:spPr>
      </p:sp>
      <p:sp>
        <p:nvSpPr>
          <p:cNvPr id="18" name="Shape 16"/>
          <p:cNvSpPr/>
          <p:nvPr/>
        </p:nvSpPr>
        <p:spPr>
          <a:xfrm>
            <a:off x="7863840" y="2011680"/>
            <a:ext cx="182880" cy="914"/>
          </a:xfrm>
          <a:prstGeom prst="line">
            <a:avLst/>
          </a:prstGeom>
          <a:noFill/>
          <a:ln w="22225">
            <a:solidFill>
              <a:schemeClr val="accent4"/>
            </a:solidFill>
            <a:prstDash val="solid"/>
            <a:tailEnd type="triangle"/>
          </a:ln>
        </p:spPr>
      </p:sp>
      <p:sp>
        <p:nvSpPr>
          <p:cNvPr id="19" name="Shape 17"/>
          <p:cNvSpPr/>
          <p:nvPr/>
        </p:nvSpPr>
        <p:spPr>
          <a:xfrm>
            <a:off x="9738360" y="2011680"/>
            <a:ext cx="182880" cy="914"/>
          </a:xfrm>
          <a:prstGeom prst="line">
            <a:avLst/>
          </a:prstGeom>
          <a:noFill/>
          <a:ln w="22225">
            <a:solidFill>
              <a:schemeClr val="accent4"/>
            </a:solidFill>
            <a:prstDash val="solid"/>
            <a:tailEnd type="triangle"/>
          </a:ln>
        </p:spPr>
      </p:sp>
      <p:sp>
        <p:nvSpPr>
          <p:cNvPr id="20" name="Confidence engine"/>
          <p:cNvSpPr/>
          <p:nvPr/>
        </p:nvSpPr>
        <p:spPr>
          <a:xfrm>
            <a:off x="8778240" y="3291840"/>
            <a:ext cx="2834640" cy="914400"/>
          </a:xfrm>
          <a:prstGeom prst="roundRect">
            <a:avLst>
              <a:gd name="adj" fmla="val 12000"/>
            </a:avLst>
          </a:prstGeom>
          <a:solidFill>
            <a:schemeClr val="tx2"/>
          </a:solidFill>
          <a:ln w="12700">
            <a:solidFill>
              <a:schemeClr val="tx2"/>
            </a:solidFill>
            <a:prstDash val="solid"/>
          </a:ln>
        </p:spPr>
      </p:sp>
      <p:sp>
        <p:nvSpPr>
          <p:cNvPr id="21" name="Confidence engine text"/>
          <p:cNvSpPr txBox="1"/>
          <p:nvPr/>
        </p:nvSpPr>
        <p:spPr>
          <a:xfrm>
            <a:off x="8869680" y="3291840"/>
            <a:ext cx="2651760" cy="914400"/>
          </a:xfrm>
          <a:prstGeom prst="rect">
            <a:avLst/>
          </a:prstGeom>
          <a:noFill/>
          <a:ln/>
        </p:spPr>
        <p:txBody>
          <a:bodyPr wrap="square" lIns="508" tIns="508" rIns="508" bIns="508" rtlCol="0" anchor="ctr"/>
          <a:lstStyle/>
          <a:p>
            <a:pPr algn="ctr" indent="0" marL="0">
              <a:buNone/>
            </a:pPr>
            <a:r>
              <a:rPr lang="en-US" sz="1500" b="1" dirty="0">
                <a:solidFill>
                  <a:schemeClr val="bg1"/>
                </a:solidFill>
              </a:rPr>
              <a:t>Confidence engine</a:t>
            </a:r>
            <a:endParaRPr lang="en-US" sz="1500" dirty="0"/>
          </a:p>
          <a:p>
            <a:pPr algn="ctr" indent="0" marL="0">
              <a:buNone/>
            </a:pPr>
            <a:r>
              <a:rPr lang="en-US" sz="1200" dirty="0">
                <a:solidFill>
                  <a:schemeClr val="accent2"/>
                </a:solidFill>
              </a:rPr>
              <a:t>≥ 0.85 and decided → stop</a:t>
            </a:r>
            <a:endParaRPr lang="en-US" sz="1500" dirty="0"/>
          </a:p>
        </p:txBody>
      </p:sp>
      <p:sp>
        <p:nvSpPr>
          <p:cNvPr id="22" name="Shape 20"/>
          <p:cNvSpPr/>
          <p:nvPr/>
        </p:nvSpPr>
        <p:spPr>
          <a:xfrm>
            <a:off x="10789920" y="2468880"/>
            <a:ext cx="914" cy="822960"/>
          </a:xfrm>
          <a:prstGeom prst="line">
            <a:avLst/>
          </a:prstGeom>
          <a:noFill/>
          <a:ln w="22225">
            <a:solidFill>
              <a:schemeClr val="accent4"/>
            </a:solidFill>
            <a:prstDash val="solid"/>
            <a:tailEnd type="triangle"/>
          </a:ln>
        </p:spPr>
      </p:sp>
      <p:sp>
        <p:nvSpPr>
          <p:cNvPr id="23" name="Shape 21"/>
          <p:cNvSpPr/>
          <p:nvPr/>
        </p:nvSpPr>
        <p:spPr>
          <a:xfrm flipH="1">
            <a:off x="1371600" y="3749040"/>
            <a:ext cx="7406640" cy="914"/>
          </a:xfrm>
          <a:prstGeom prst="line">
            <a:avLst/>
          </a:prstGeom>
          <a:noFill/>
          <a:ln w="22225">
            <a:solidFill>
              <a:schemeClr val="accent2"/>
            </a:solidFill>
            <a:prstDash val="dash"/>
            <a:tailEnd type="triangle"/>
          </a:ln>
        </p:spPr>
      </p:sp>
      <p:sp>
        <p:nvSpPr>
          <p:cNvPr id="24" name="Shape 22"/>
          <p:cNvSpPr/>
          <p:nvPr/>
        </p:nvSpPr>
        <p:spPr>
          <a:xfrm flipV="1">
            <a:off x="1371600" y="2468880"/>
            <a:ext cx="914" cy="1280160"/>
          </a:xfrm>
          <a:prstGeom prst="line">
            <a:avLst/>
          </a:prstGeom>
          <a:noFill/>
          <a:ln w="22225">
            <a:solidFill>
              <a:schemeClr val="accent2"/>
            </a:solidFill>
            <a:prstDash val="dash"/>
            <a:tailEnd type="triangle"/>
          </a:ln>
        </p:spPr>
      </p:sp>
      <p:sp>
        <p:nvSpPr>
          <p:cNvPr id="25" name="Text 23"/>
          <p:cNvSpPr txBox="1"/>
          <p:nvPr/>
        </p:nvSpPr>
        <p:spPr>
          <a:xfrm>
            <a:off x="1828800" y="3383280"/>
            <a:ext cx="6400800" cy="320040"/>
          </a:xfrm>
          <a:prstGeom prst="rect">
            <a:avLst/>
          </a:prstGeom>
          <a:noFill/>
          <a:ln/>
        </p:spPr>
        <p:txBody>
          <a:bodyPr wrap="square" lIns="0" tIns="0" rIns="0" bIns="0" rtlCol="0" anchor="ctr"/>
          <a:lstStyle/>
          <a:p>
            <a:pPr algn="ctr" indent="0" marL="0">
              <a:buNone/>
            </a:pPr>
            <a:r>
              <a:rPr lang="en-US" sz="1300" i="1" dirty="0">
                <a:solidFill>
                  <a:schemeClr val="tx2"/>
                </a:solidFill>
              </a:rPr>
              <a:t>Next round must bring NEW trip evidence, or the debate stops</a:t>
            </a:r>
            <a:endParaRPr lang="en-US" sz="1300" dirty="0"/>
          </a:p>
        </p:txBody>
      </p:sp>
      <p:sp>
        <p:nvSpPr>
          <p:cNvPr id="26" name="Adopt final"/>
          <p:cNvSpPr/>
          <p:nvPr/>
        </p:nvSpPr>
        <p:spPr>
          <a:xfrm>
            <a:off x="5486400" y="4846320"/>
            <a:ext cx="1828800" cy="822960"/>
          </a:xfrm>
          <a:prstGeom prst="roundRect">
            <a:avLst>
              <a:gd name="adj" fmla="val 13333"/>
            </a:avLst>
          </a:prstGeom>
          <a:solidFill>
            <a:schemeClr val="bg2"/>
          </a:solidFill>
          <a:ln w="12700">
            <a:solidFill>
              <a:schemeClr val="bg2"/>
            </a:solidFill>
            <a:prstDash val="solid"/>
          </a:ln>
        </p:spPr>
      </p:sp>
      <p:sp>
        <p:nvSpPr>
          <p:cNvPr id="27" name="Adopt final text"/>
          <p:cNvSpPr txBox="1"/>
          <p:nvPr/>
        </p:nvSpPr>
        <p:spPr>
          <a:xfrm>
            <a:off x="5577840" y="4846320"/>
            <a:ext cx="1645920" cy="822960"/>
          </a:xfrm>
          <a:prstGeom prst="rect">
            <a:avLst/>
          </a:prstGeom>
          <a:noFill/>
          <a:ln/>
        </p:spPr>
        <p:txBody>
          <a:bodyPr wrap="square" lIns="508" tIns="508" rIns="508" bIns="508" rtlCol="0" anchor="ctr"/>
          <a:lstStyle/>
          <a:p>
            <a:pPr algn="ctr" indent="0" marL="0">
              <a:buNone/>
            </a:pPr>
            <a:r>
              <a:rPr lang="en-US" sz="1500" b="1" dirty="0">
                <a:solidFill>
                  <a:schemeClr val="tx2"/>
                </a:solidFill>
              </a:rPr>
              <a:t>Adopt final</a:t>
            </a:r>
            <a:endParaRPr lang="en-US" sz="1500" dirty="0"/>
          </a:p>
        </p:txBody>
      </p:sp>
      <p:sp>
        <p:nvSpPr>
          <p:cNvPr id="28" name="Refund engine"/>
          <p:cNvSpPr/>
          <p:nvPr/>
        </p:nvSpPr>
        <p:spPr>
          <a:xfrm>
            <a:off x="7680960" y="4846320"/>
            <a:ext cx="1828800" cy="822960"/>
          </a:xfrm>
          <a:prstGeom prst="roundRect">
            <a:avLst>
              <a:gd name="adj" fmla="val 13333"/>
            </a:avLst>
          </a:prstGeom>
          <a:solidFill>
            <a:schemeClr val="bg2"/>
          </a:solidFill>
          <a:ln w="12700">
            <a:solidFill>
              <a:schemeClr val="bg2"/>
            </a:solidFill>
            <a:prstDash val="solid"/>
          </a:ln>
        </p:spPr>
      </p:sp>
      <p:sp>
        <p:nvSpPr>
          <p:cNvPr id="29" name="Refund engine text"/>
          <p:cNvSpPr txBox="1"/>
          <p:nvPr/>
        </p:nvSpPr>
        <p:spPr>
          <a:xfrm>
            <a:off x="7772400" y="4846320"/>
            <a:ext cx="1645920" cy="822960"/>
          </a:xfrm>
          <a:prstGeom prst="rect">
            <a:avLst/>
          </a:prstGeom>
          <a:noFill/>
          <a:ln/>
        </p:spPr>
        <p:txBody>
          <a:bodyPr wrap="square" lIns="508" tIns="508" rIns="508" bIns="508" rtlCol="0" anchor="ctr"/>
          <a:lstStyle/>
          <a:p>
            <a:pPr algn="ctr" indent="0" marL="0">
              <a:buNone/>
            </a:pPr>
            <a:r>
              <a:rPr lang="en-US" sz="1500" b="1" dirty="0">
                <a:solidFill>
                  <a:schemeClr val="tx2"/>
                </a:solidFill>
              </a:rPr>
              <a:t>Refund engine</a:t>
            </a:r>
            <a:endParaRPr lang="en-US" sz="1500" dirty="0"/>
          </a:p>
        </p:txBody>
      </p:sp>
      <p:sp>
        <p:nvSpPr>
          <p:cNvPr id="30" name="Routing"/>
          <p:cNvSpPr/>
          <p:nvPr/>
        </p:nvSpPr>
        <p:spPr>
          <a:xfrm>
            <a:off x="9875520" y="4846320"/>
            <a:ext cx="1737360" cy="822960"/>
          </a:xfrm>
          <a:prstGeom prst="roundRect">
            <a:avLst>
              <a:gd name="adj" fmla="val 13333"/>
            </a:avLst>
          </a:prstGeom>
          <a:solidFill>
            <a:schemeClr val="accent2"/>
          </a:solidFill>
          <a:ln w="12700">
            <a:solidFill>
              <a:schemeClr val="accent2"/>
            </a:solidFill>
            <a:prstDash val="solid"/>
          </a:ln>
        </p:spPr>
      </p:sp>
      <p:sp>
        <p:nvSpPr>
          <p:cNvPr id="31" name="Routing text"/>
          <p:cNvSpPr txBox="1"/>
          <p:nvPr/>
        </p:nvSpPr>
        <p:spPr>
          <a:xfrm>
            <a:off x="9966960" y="4846320"/>
            <a:ext cx="1554480" cy="822960"/>
          </a:xfrm>
          <a:prstGeom prst="rect">
            <a:avLst/>
          </a:prstGeom>
          <a:noFill/>
          <a:ln/>
        </p:spPr>
        <p:txBody>
          <a:bodyPr wrap="square" lIns="508" tIns="508" rIns="508" bIns="508" rtlCol="0" anchor="ctr"/>
          <a:lstStyle/>
          <a:p>
            <a:pPr algn="ctr" indent="0" marL="0">
              <a:buNone/>
            </a:pPr>
            <a:r>
              <a:rPr lang="en-US" sz="1500" b="1" dirty="0">
                <a:solidFill>
                  <a:schemeClr val="tx1"/>
                </a:solidFill>
              </a:rPr>
              <a:t>Routing</a:t>
            </a:r>
            <a:endParaRPr lang="en-US" sz="1500" dirty="0"/>
          </a:p>
          <a:p>
            <a:pPr algn="ctr" indent="0" marL="0">
              <a:buNone/>
            </a:pPr>
            <a:r>
              <a:rPr lang="en-US" sz="1200" dirty="0">
                <a:solidFill>
                  <a:schemeClr val="tx1"/>
                </a:solidFill>
              </a:rPr>
              <a:t>auto or person</a:t>
            </a:r>
            <a:endParaRPr lang="en-US" sz="1500" dirty="0"/>
          </a:p>
        </p:txBody>
      </p:sp>
      <p:sp>
        <p:nvSpPr>
          <p:cNvPr id="32" name="Shape 30"/>
          <p:cNvSpPr/>
          <p:nvPr/>
        </p:nvSpPr>
        <p:spPr>
          <a:xfrm flipH="1">
            <a:off x="6400800" y="4206240"/>
            <a:ext cx="3749040" cy="640080"/>
          </a:xfrm>
          <a:prstGeom prst="line">
            <a:avLst/>
          </a:prstGeom>
          <a:noFill/>
          <a:ln w="22225">
            <a:solidFill>
              <a:schemeClr val="accent4"/>
            </a:solidFill>
            <a:prstDash val="solid"/>
            <a:tailEnd type="triangle"/>
          </a:ln>
        </p:spPr>
      </p:sp>
      <p:sp>
        <p:nvSpPr>
          <p:cNvPr id="33" name="Shape 31"/>
          <p:cNvSpPr/>
          <p:nvPr/>
        </p:nvSpPr>
        <p:spPr>
          <a:xfrm>
            <a:off x="7315200" y="5257800"/>
            <a:ext cx="365760" cy="914"/>
          </a:xfrm>
          <a:prstGeom prst="line">
            <a:avLst/>
          </a:prstGeom>
          <a:noFill/>
          <a:ln w="22225">
            <a:solidFill>
              <a:schemeClr val="accent4"/>
            </a:solidFill>
            <a:prstDash val="solid"/>
            <a:tailEnd type="triangle"/>
          </a:ln>
        </p:spPr>
      </p:sp>
      <p:sp>
        <p:nvSpPr>
          <p:cNvPr id="34" name="Shape 32"/>
          <p:cNvSpPr/>
          <p:nvPr/>
        </p:nvSpPr>
        <p:spPr>
          <a:xfrm>
            <a:off x="9509760" y="5257800"/>
            <a:ext cx="365760" cy="914"/>
          </a:xfrm>
          <a:prstGeom prst="line">
            <a:avLst/>
          </a:prstGeom>
          <a:noFill/>
          <a:ln w="22225">
            <a:solidFill>
              <a:schemeClr val="accent4"/>
            </a:solidFill>
            <a:prstDash val="solid"/>
            <a:tailEnd type="triangle"/>
          </a:ln>
        </p:spPr>
      </p:sp>
      <p:sp>
        <p:nvSpPr>
          <p:cNvPr id="35" name="Text 33"/>
          <p:cNvSpPr txBox="1"/>
          <p:nvPr/>
        </p:nvSpPr>
        <p:spPr>
          <a:xfrm>
            <a:off x="548640" y="4343400"/>
            <a:ext cx="1097280" cy="365760"/>
          </a:xfrm>
          <a:prstGeom prst="rect">
            <a:avLst/>
          </a:prstGeom>
          <a:noFill/>
          <a:ln/>
        </p:spPr>
        <p:txBody>
          <a:bodyPr wrap="square" lIns="0" tIns="0" rIns="0" bIns="0" rtlCol="0" anchor="ctr"/>
          <a:lstStyle/>
          <a:p>
            <a:pPr algn="l" indent="0" marL="0">
              <a:buNone/>
            </a:pPr>
            <a:r>
              <a:rPr lang="en-US" sz="1200" b="1" dirty="0">
                <a:solidFill>
                  <a:schemeClr val="tx2"/>
                </a:solidFill>
              </a:rPr>
              <a:t>Round 1</a:t>
            </a:r>
            <a:endParaRPr lang="en-US" sz="1200" dirty="0"/>
          </a:p>
        </p:txBody>
      </p:sp>
      <p:sp>
        <p:nvSpPr>
          <p:cNvPr id="36" name="Text 34"/>
          <p:cNvSpPr txBox="1"/>
          <p:nvPr/>
        </p:nvSpPr>
        <p:spPr>
          <a:xfrm>
            <a:off x="1645920" y="4343400"/>
            <a:ext cx="3566160" cy="365760"/>
          </a:xfrm>
          <a:prstGeom prst="rect">
            <a:avLst/>
          </a:prstGeom>
          <a:noFill/>
          <a:ln/>
        </p:spPr>
        <p:txBody>
          <a:bodyPr wrap="square" lIns="0" tIns="0" rIns="0" bIns="0" rtlCol="0" anchor="ctr"/>
          <a:lstStyle/>
          <a:p>
            <a:pPr algn="l" indent="0" marL="0">
              <a:buNone/>
            </a:pPr>
            <a:r>
              <a:rPr lang="en-US" sz="1200" dirty="0">
                <a:solidFill>
                  <a:schemeClr val="tx1"/>
                </a:solidFill>
              </a:rPr>
              <a:t>trip, profile, GPS, fare, policy</a:t>
            </a:r>
            <a:endParaRPr lang="en-US" sz="1200" dirty="0"/>
          </a:p>
        </p:txBody>
      </p:sp>
      <p:sp>
        <p:nvSpPr>
          <p:cNvPr id="37" name="Text 35"/>
          <p:cNvSpPr txBox="1"/>
          <p:nvPr/>
        </p:nvSpPr>
        <p:spPr>
          <a:xfrm>
            <a:off x="548640" y="4800600"/>
            <a:ext cx="1097280" cy="365760"/>
          </a:xfrm>
          <a:prstGeom prst="rect">
            <a:avLst/>
          </a:prstGeom>
          <a:noFill/>
          <a:ln/>
        </p:spPr>
        <p:txBody>
          <a:bodyPr wrap="square" lIns="0" tIns="0" rIns="0" bIns="0" rtlCol="0" anchor="ctr"/>
          <a:lstStyle/>
          <a:p>
            <a:pPr algn="l" indent="0" marL="0">
              <a:buNone/>
            </a:pPr>
            <a:r>
              <a:rPr lang="en-US" sz="1200" b="1" dirty="0">
                <a:solidFill>
                  <a:schemeClr val="tx2"/>
                </a:solidFill>
              </a:rPr>
              <a:t>Round 2</a:t>
            </a:r>
            <a:endParaRPr lang="en-US" sz="1200" dirty="0"/>
          </a:p>
        </p:txBody>
      </p:sp>
      <p:sp>
        <p:nvSpPr>
          <p:cNvPr id="38" name="Text 36"/>
          <p:cNvSpPr txBox="1"/>
          <p:nvPr/>
        </p:nvSpPr>
        <p:spPr>
          <a:xfrm>
            <a:off x="1645920" y="4800600"/>
            <a:ext cx="3566160" cy="365760"/>
          </a:xfrm>
          <a:prstGeom prst="rect">
            <a:avLst/>
          </a:prstGeom>
          <a:noFill/>
          <a:ln/>
        </p:spPr>
        <p:txBody>
          <a:bodyPr wrap="square" lIns="0" tIns="0" rIns="0" bIns="0" rtlCol="0" anchor="ctr"/>
          <a:lstStyle/>
          <a:p>
            <a:pPr algn="l" indent="0" marL="0">
              <a:buNone/>
            </a:pPr>
            <a:r>
              <a:rPr lang="en-US" sz="1200" dirty="0">
                <a:solidFill>
                  <a:schemeClr val="tx1"/>
                </a:solidFill>
              </a:rPr>
              <a:t>chat, app events, own history, uploads</a:t>
            </a:r>
            <a:endParaRPr lang="en-US" sz="1200" dirty="0"/>
          </a:p>
        </p:txBody>
      </p:sp>
      <p:sp>
        <p:nvSpPr>
          <p:cNvPr id="39" name="Text 37"/>
          <p:cNvSpPr txBox="1"/>
          <p:nvPr/>
        </p:nvSpPr>
        <p:spPr>
          <a:xfrm>
            <a:off x="548640" y="5257800"/>
            <a:ext cx="1097280" cy="365760"/>
          </a:xfrm>
          <a:prstGeom prst="rect">
            <a:avLst/>
          </a:prstGeom>
          <a:noFill/>
          <a:ln/>
        </p:spPr>
        <p:txBody>
          <a:bodyPr wrap="square" lIns="0" tIns="0" rIns="0" bIns="0" rtlCol="0" anchor="ctr"/>
          <a:lstStyle/>
          <a:p>
            <a:pPr algn="l" indent="0" marL="0">
              <a:buNone/>
            </a:pPr>
            <a:r>
              <a:rPr lang="en-US" sz="1200" b="1" dirty="0">
                <a:solidFill>
                  <a:schemeClr val="tx2"/>
                </a:solidFill>
              </a:rPr>
              <a:t>Round 3</a:t>
            </a:r>
            <a:endParaRPr lang="en-US" sz="1200" dirty="0"/>
          </a:p>
        </p:txBody>
      </p:sp>
      <p:sp>
        <p:nvSpPr>
          <p:cNvPr id="40" name="Text 38"/>
          <p:cNvSpPr txBox="1"/>
          <p:nvPr/>
        </p:nvSpPr>
        <p:spPr>
          <a:xfrm>
            <a:off x="1645920" y="5257800"/>
            <a:ext cx="3566160" cy="365760"/>
          </a:xfrm>
          <a:prstGeom prst="rect">
            <a:avLst/>
          </a:prstGeom>
          <a:noFill/>
          <a:ln/>
        </p:spPr>
        <p:txBody>
          <a:bodyPr wrap="square" lIns="0" tIns="0" rIns="0" bIns="0" rtlCol="0" anchor="ctr"/>
          <a:lstStyle/>
          <a:p>
            <a:pPr algn="l" indent="0" marL="0">
              <a:buNone/>
            </a:pPr>
            <a:r>
              <a:rPr lang="en-US" sz="1200" dirty="0">
                <a:solidFill>
                  <a:schemeClr val="tx1"/>
                </a:solidFill>
              </a:rPr>
              <a:t>navigation, traffic, pair history</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2"/>
                </a:solidFill>
              </a:rPr>
              <a:t>Five agents, each with one job</a:t>
            </a:r>
            <a:endParaRPr lang="en-US" sz="3200" dirty="0"/>
          </a:p>
        </p:txBody>
      </p:sp>
      <p:sp>
        <p:nvSpPr>
          <p:cNvPr id="3" name="Rider Advocate"/>
          <p:cNvSpPr/>
          <p:nvPr/>
        </p:nvSpPr>
        <p:spPr>
          <a:xfrm>
            <a:off x="548640" y="1325880"/>
            <a:ext cx="2057400" cy="1051560"/>
          </a:xfrm>
          <a:prstGeom prst="roundRect">
            <a:avLst>
              <a:gd name="adj" fmla="val 10435"/>
            </a:avLst>
          </a:prstGeom>
          <a:solidFill>
            <a:schemeClr val="accent1"/>
          </a:solidFill>
          <a:ln w="12700">
            <a:solidFill>
              <a:schemeClr val="accent1"/>
            </a:solidFill>
            <a:prstDash val="solid"/>
          </a:ln>
        </p:spPr>
      </p:sp>
      <p:sp>
        <p:nvSpPr>
          <p:cNvPr id="4" name="Rider Advocate text"/>
          <p:cNvSpPr txBox="1"/>
          <p:nvPr/>
        </p:nvSpPr>
        <p:spPr>
          <a:xfrm>
            <a:off x="640080" y="1325880"/>
            <a:ext cx="1874520" cy="1051560"/>
          </a:xfrm>
          <a:prstGeom prst="rect">
            <a:avLst/>
          </a:prstGeom>
          <a:noFill/>
          <a:ln/>
        </p:spPr>
        <p:txBody>
          <a:bodyPr wrap="square" lIns="508" tIns="508" rIns="508" bIns="508" rtlCol="0" anchor="ctr"/>
          <a:lstStyle/>
          <a:p>
            <a:pPr algn="ctr" indent="0" marL="0">
              <a:buNone/>
            </a:pPr>
            <a:r>
              <a:rPr lang="en-US" sz="1400" b="1" dirty="0">
                <a:solidFill>
                  <a:schemeClr val="bg1"/>
                </a:solidFill>
              </a:rPr>
              <a:t>Rider Advocate</a:t>
            </a:r>
            <a:endParaRPr lang="en-US" sz="1400" dirty="0"/>
          </a:p>
          <a:p>
            <a:pPr algn="ctr" indent="0" marL="0">
              <a:buNone/>
            </a:pPr>
            <a:r>
              <a:rPr lang="en-US" sz="1200" dirty="0">
                <a:solidFill>
                  <a:schemeClr val="bg1"/>
                </a:solidFill>
              </a:rPr>
              <a:t>Argues the rider's side</a:t>
            </a:r>
            <a:endParaRPr lang="en-US" sz="1400" dirty="0"/>
          </a:p>
        </p:txBody>
      </p:sp>
      <p:sp>
        <p:nvSpPr>
          <p:cNvPr id="5" name="Rider Advocate card"/>
          <p:cNvSpPr/>
          <p:nvPr/>
        </p:nvSpPr>
        <p:spPr>
          <a:xfrm>
            <a:off x="548640" y="2514600"/>
            <a:ext cx="2057400" cy="3291840"/>
          </a:xfrm>
          <a:prstGeom prst="roundRect">
            <a:avLst>
              <a:gd name="adj" fmla="val 5333"/>
            </a:avLst>
          </a:prstGeom>
          <a:solidFill>
            <a:schemeClr val="bg2"/>
          </a:solidFill>
          <a:ln w="12700">
            <a:solidFill>
              <a:schemeClr val="bg2"/>
            </a:solidFill>
            <a:prstDash val="solid"/>
          </a:ln>
        </p:spPr>
      </p:sp>
      <p:sp>
        <p:nvSpPr>
          <p:cNvPr id="6" name="Rider Advocate card text"/>
          <p:cNvSpPr txBox="1"/>
          <p:nvPr/>
        </p:nvSpPr>
        <p:spPr>
          <a:xfrm>
            <a:off x="640080" y="2514600"/>
            <a:ext cx="1874520" cy="3291840"/>
          </a:xfrm>
          <a:prstGeom prst="rect">
            <a:avLst/>
          </a:prstGeom>
          <a:noFill/>
          <a:ln/>
        </p:spPr>
        <p:txBody>
          <a:bodyPr wrap="square" lIns="508" tIns="508" rIns="508" bIns="508" rtlCol="0" anchor="ctr"/>
          <a:lstStyle/>
          <a:p>
            <a:pPr algn="ctr" indent="0" marL="0">
              <a:buNone/>
            </a:pPr>
            <a:endParaRPr lang="en-US" sz="1500" dirty="0"/>
          </a:p>
        </p:txBody>
      </p:sp>
      <p:sp>
        <p:nvSpPr>
          <p:cNvPr id="7" name="Text 5"/>
          <p:cNvSpPr txBox="1"/>
          <p:nvPr/>
        </p:nvSpPr>
        <p:spPr>
          <a:xfrm>
            <a:off x="685800" y="2606040"/>
            <a:ext cx="1783080" cy="274320"/>
          </a:xfrm>
          <a:prstGeom prst="rect">
            <a:avLst/>
          </a:prstGeom>
          <a:noFill/>
          <a:ln/>
        </p:spPr>
        <p:txBody>
          <a:bodyPr wrap="square" lIns="0" tIns="0" rIns="0" bIns="0" rtlCol="0" anchor="ctr"/>
          <a:lstStyle/>
          <a:p>
            <a:pPr algn="l" indent="0" marL="0">
              <a:buNone/>
            </a:pPr>
            <a:r>
              <a:rPr lang="en-US" sz="1200" b="1" dirty="0">
                <a:solidFill>
                  <a:schemeClr val="tx2"/>
                </a:solidFill>
              </a:rPr>
              <a:t>Reads</a:t>
            </a:r>
            <a:endParaRPr lang="en-US" sz="1200" dirty="0"/>
          </a:p>
        </p:txBody>
      </p:sp>
      <p:sp>
        <p:nvSpPr>
          <p:cNvPr id="8" name="Text 6"/>
          <p:cNvSpPr txBox="1"/>
          <p:nvPr/>
        </p:nvSpPr>
        <p:spPr>
          <a:xfrm>
            <a:off x="685800" y="2880360"/>
            <a:ext cx="1783080" cy="1280160"/>
          </a:xfrm>
          <a:prstGeom prst="rect">
            <a:avLst/>
          </a:prstGeom>
          <a:noFill/>
          <a:ln/>
        </p:spPr>
        <p:txBody>
          <a:bodyPr wrap="square" lIns="0" tIns="0" rIns="0" bIns="0" rtlCol="0" anchor="t"/>
          <a:lstStyle/>
          <a:p>
            <a:pPr algn="l" indent="0" marL="0">
              <a:buNone/>
            </a:pPr>
            <a:r>
              <a:rPr lang="en-US" sz="1200" dirty="0">
                <a:solidFill>
                  <a:schemeClr val="tx1"/>
                </a:solidFill>
              </a:rPr>
              <a:t>Rider profile, fare breakdown, shared trip records, own history and uploads</a:t>
            </a:r>
            <a:endParaRPr lang="en-US" sz="1200" dirty="0"/>
          </a:p>
        </p:txBody>
      </p:sp>
      <p:sp>
        <p:nvSpPr>
          <p:cNvPr id="9" name="Text 7"/>
          <p:cNvSpPr txBox="1"/>
          <p:nvPr/>
        </p:nvSpPr>
        <p:spPr>
          <a:xfrm>
            <a:off x="685800" y="4206240"/>
            <a:ext cx="1783080" cy="274320"/>
          </a:xfrm>
          <a:prstGeom prst="rect">
            <a:avLst/>
          </a:prstGeom>
          <a:noFill/>
          <a:ln/>
        </p:spPr>
        <p:txBody>
          <a:bodyPr wrap="square" lIns="0" tIns="0" rIns="0" bIns="0" rtlCol="0" anchor="ctr"/>
          <a:lstStyle/>
          <a:p>
            <a:pPr algn="l" indent="0" marL="0">
              <a:buNone/>
            </a:pPr>
            <a:r>
              <a:rPr lang="en-US" sz="1200" b="1" dirty="0">
                <a:solidFill>
                  <a:schemeClr val="tx2"/>
                </a:solidFill>
              </a:rPr>
              <a:t>Returns</a:t>
            </a:r>
            <a:endParaRPr lang="en-US" sz="1200" dirty="0"/>
          </a:p>
        </p:txBody>
      </p:sp>
      <p:sp>
        <p:nvSpPr>
          <p:cNvPr id="10" name="Text 8"/>
          <p:cNvSpPr txBox="1"/>
          <p:nvPr/>
        </p:nvSpPr>
        <p:spPr>
          <a:xfrm>
            <a:off x="685800" y="4480560"/>
            <a:ext cx="1783080" cy="1280160"/>
          </a:xfrm>
          <a:prstGeom prst="rect">
            <a:avLst/>
          </a:prstGeom>
          <a:noFill/>
          <a:ln/>
        </p:spPr>
        <p:txBody>
          <a:bodyPr wrap="square" lIns="0" tIns="0" rIns="0" bIns="0" rtlCol="0" anchor="t"/>
          <a:lstStyle/>
          <a:p>
            <a:pPr algn="l" indent="0" marL="0">
              <a:buNone/>
            </a:pPr>
            <a:r>
              <a:rPr lang="en-US" sz="1200" dirty="0">
                <a:solidFill>
                  <a:schemeClr val="tx1"/>
                </a:solidFill>
              </a:rPr>
              <a:t>Claims (kind, value, evidence, policy) + plain summary</a:t>
            </a:r>
            <a:endParaRPr lang="en-US" sz="1200" dirty="0"/>
          </a:p>
        </p:txBody>
      </p:sp>
      <p:sp>
        <p:nvSpPr>
          <p:cNvPr id="11" name="Driver Advocate"/>
          <p:cNvSpPr/>
          <p:nvPr/>
        </p:nvSpPr>
        <p:spPr>
          <a:xfrm>
            <a:off x="2788920" y="1325880"/>
            <a:ext cx="2057400" cy="1051560"/>
          </a:xfrm>
          <a:prstGeom prst="roundRect">
            <a:avLst>
              <a:gd name="adj" fmla="val 10435"/>
            </a:avLst>
          </a:prstGeom>
          <a:solidFill>
            <a:schemeClr val="accent1"/>
          </a:solidFill>
          <a:ln w="12700">
            <a:solidFill>
              <a:schemeClr val="accent1"/>
            </a:solidFill>
            <a:prstDash val="solid"/>
          </a:ln>
        </p:spPr>
      </p:sp>
      <p:sp>
        <p:nvSpPr>
          <p:cNvPr id="12" name="Driver Advocate text"/>
          <p:cNvSpPr txBox="1"/>
          <p:nvPr/>
        </p:nvSpPr>
        <p:spPr>
          <a:xfrm>
            <a:off x="2880360" y="1325880"/>
            <a:ext cx="1874520" cy="1051560"/>
          </a:xfrm>
          <a:prstGeom prst="rect">
            <a:avLst/>
          </a:prstGeom>
          <a:noFill/>
          <a:ln/>
        </p:spPr>
        <p:txBody>
          <a:bodyPr wrap="square" lIns="508" tIns="508" rIns="508" bIns="508" rtlCol="0" anchor="ctr"/>
          <a:lstStyle/>
          <a:p>
            <a:pPr algn="ctr" indent="0" marL="0">
              <a:buNone/>
            </a:pPr>
            <a:r>
              <a:rPr lang="en-US" sz="1400" b="1" dirty="0">
                <a:solidFill>
                  <a:schemeClr val="bg1"/>
                </a:solidFill>
              </a:rPr>
              <a:t>Driver Advocate</a:t>
            </a:r>
            <a:endParaRPr lang="en-US" sz="1400" dirty="0"/>
          </a:p>
          <a:p>
            <a:pPr algn="ctr" indent="0" marL="0">
              <a:buNone/>
            </a:pPr>
            <a:r>
              <a:rPr lang="en-US" sz="1200" dirty="0">
                <a:solidFill>
                  <a:schemeClr val="bg1"/>
                </a:solidFill>
              </a:rPr>
              <a:t>Argues the driver's side</a:t>
            </a:r>
            <a:endParaRPr lang="en-US" sz="1400" dirty="0"/>
          </a:p>
        </p:txBody>
      </p:sp>
      <p:sp>
        <p:nvSpPr>
          <p:cNvPr id="13" name="Driver Advocate card"/>
          <p:cNvSpPr/>
          <p:nvPr/>
        </p:nvSpPr>
        <p:spPr>
          <a:xfrm>
            <a:off x="2788920" y="2514600"/>
            <a:ext cx="2057400" cy="3291840"/>
          </a:xfrm>
          <a:prstGeom prst="roundRect">
            <a:avLst>
              <a:gd name="adj" fmla="val 5333"/>
            </a:avLst>
          </a:prstGeom>
          <a:solidFill>
            <a:schemeClr val="bg2"/>
          </a:solidFill>
          <a:ln w="12700">
            <a:solidFill>
              <a:schemeClr val="bg2"/>
            </a:solidFill>
            <a:prstDash val="solid"/>
          </a:ln>
        </p:spPr>
      </p:sp>
      <p:sp>
        <p:nvSpPr>
          <p:cNvPr id="14" name="Driver Advocate card text"/>
          <p:cNvSpPr txBox="1"/>
          <p:nvPr/>
        </p:nvSpPr>
        <p:spPr>
          <a:xfrm>
            <a:off x="2880360" y="2514600"/>
            <a:ext cx="1874520" cy="3291840"/>
          </a:xfrm>
          <a:prstGeom prst="rect">
            <a:avLst/>
          </a:prstGeom>
          <a:noFill/>
          <a:ln/>
        </p:spPr>
        <p:txBody>
          <a:bodyPr wrap="square" lIns="508" tIns="508" rIns="508" bIns="508" rtlCol="0" anchor="ctr"/>
          <a:lstStyle/>
          <a:p>
            <a:pPr algn="ctr" indent="0" marL="0">
              <a:buNone/>
            </a:pPr>
            <a:endParaRPr lang="en-US" sz="1500" dirty="0"/>
          </a:p>
        </p:txBody>
      </p:sp>
      <p:sp>
        <p:nvSpPr>
          <p:cNvPr id="15" name="Text 13"/>
          <p:cNvSpPr txBox="1"/>
          <p:nvPr/>
        </p:nvSpPr>
        <p:spPr>
          <a:xfrm>
            <a:off x="2926080" y="2606040"/>
            <a:ext cx="1783080" cy="274320"/>
          </a:xfrm>
          <a:prstGeom prst="rect">
            <a:avLst/>
          </a:prstGeom>
          <a:noFill/>
          <a:ln/>
        </p:spPr>
        <p:txBody>
          <a:bodyPr wrap="square" lIns="0" tIns="0" rIns="0" bIns="0" rtlCol="0" anchor="ctr"/>
          <a:lstStyle/>
          <a:p>
            <a:pPr algn="l" indent="0" marL="0">
              <a:buNone/>
            </a:pPr>
            <a:r>
              <a:rPr lang="en-US" sz="1200" b="1" dirty="0">
                <a:solidFill>
                  <a:schemeClr val="tx2"/>
                </a:solidFill>
              </a:rPr>
              <a:t>Reads</a:t>
            </a:r>
            <a:endParaRPr lang="en-US" sz="1200" dirty="0"/>
          </a:p>
        </p:txBody>
      </p:sp>
      <p:sp>
        <p:nvSpPr>
          <p:cNvPr id="16" name="Text 14"/>
          <p:cNvSpPr txBox="1"/>
          <p:nvPr/>
        </p:nvSpPr>
        <p:spPr>
          <a:xfrm>
            <a:off x="2926080" y="2880360"/>
            <a:ext cx="1783080" cy="1280160"/>
          </a:xfrm>
          <a:prstGeom prst="rect">
            <a:avLst/>
          </a:prstGeom>
          <a:noFill/>
          <a:ln/>
        </p:spPr>
        <p:txBody>
          <a:bodyPr wrap="square" lIns="0" tIns="0" rIns="0" bIns="0" rtlCol="0" anchor="t"/>
          <a:lstStyle/>
          <a:p>
            <a:pPr algn="l" indent="0" marL="0">
              <a:buNone/>
            </a:pPr>
            <a:r>
              <a:rPr lang="en-US" sz="1200" dirty="0">
                <a:solidFill>
                  <a:schemeClr val="tx1"/>
                </a:solidFill>
              </a:rPr>
              <a:t>Driver GPS and profile, shared trip records, own history and uploads</a:t>
            </a:r>
            <a:endParaRPr lang="en-US" sz="1200" dirty="0"/>
          </a:p>
        </p:txBody>
      </p:sp>
      <p:sp>
        <p:nvSpPr>
          <p:cNvPr id="17" name="Text 15"/>
          <p:cNvSpPr txBox="1"/>
          <p:nvPr/>
        </p:nvSpPr>
        <p:spPr>
          <a:xfrm>
            <a:off x="2926080" y="4206240"/>
            <a:ext cx="1783080" cy="274320"/>
          </a:xfrm>
          <a:prstGeom prst="rect">
            <a:avLst/>
          </a:prstGeom>
          <a:noFill/>
          <a:ln/>
        </p:spPr>
        <p:txBody>
          <a:bodyPr wrap="square" lIns="0" tIns="0" rIns="0" bIns="0" rtlCol="0" anchor="ctr"/>
          <a:lstStyle/>
          <a:p>
            <a:pPr algn="l" indent="0" marL="0">
              <a:buNone/>
            </a:pPr>
            <a:r>
              <a:rPr lang="en-US" sz="1200" b="1" dirty="0">
                <a:solidFill>
                  <a:schemeClr val="tx2"/>
                </a:solidFill>
              </a:rPr>
              <a:t>Returns</a:t>
            </a:r>
            <a:endParaRPr lang="en-US" sz="1200" dirty="0"/>
          </a:p>
        </p:txBody>
      </p:sp>
      <p:sp>
        <p:nvSpPr>
          <p:cNvPr id="18" name="Text 16"/>
          <p:cNvSpPr txBox="1"/>
          <p:nvPr/>
        </p:nvSpPr>
        <p:spPr>
          <a:xfrm>
            <a:off x="2926080" y="4480560"/>
            <a:ext cx="1783080" cy="1280160"/>
          </a:xfrm>
          <a:prstGeom prst="rect">
            <a:avLst/>
          </a:prstGeom>
          <a:noFill/>
          <a:ln/>
        </p:spPr>
        <p:txBody>
          <a:bodyPr wrap="square" lIns="0" tIns="0" rIns="0" bIns="0" rtlCol="0" anchor="t"/>
          <a:lstStyle/>
          <a:p>
            <a:pPr algn="l" indent="0" marL="0">
              <a:buNone/>
            </a:pPr>
            <a:r>
              <a:rPr lang="en-US" sz="1200" dirty="0">
                <a:solidFill>
                  <a:schemeClr val="tx1"/>
                </a:solidFill>
              </a:rPr>
              <a:t>Same Argument contract; sees the rival only from round 2, to rebut</a:t>
            </a:r>
            <a:endParaRPr lang="en-US" sz="1200" dirty="0"/>
          </a:p>
        </p:txBody>
      </p:sp>
      <p:sp>
        <p:nvSpPr>
          <p:cNvPr id="19" name="Communication Analyst"/>
          <p:cNvSpPr/>
          <p:nvPr/>
        </p:nvSpPr>
        <p:spPr>
          <a:xfrm>
            <a:off x="5029200" y="1325880"/>
            <a:ext cx="2057400" cy="1051560"/>
          </a:xfrm>
          <a:prstGeom prst="roundRect">
            <a:avLst>
              <a:gd name="adj" fmla="val 10435"/>
            </a:avLst>
          </a:prstGeom>
          <a:solidFill>
            <a:schemeClr val="accent2"/>
          </a:solidFill>
          <a:ln w="12700">
            <a:solidFill>
              <a:schemeClr val="accent2"/>
            </a:solidFill>
            <a:prstDash val="solid"/>
          </a:ln>
        </p:spPr>
      </p:sp>
      <p:sp>
        <p:nvSpPr>
          <p:cNvPr id="20" name="Communication Analyst text"/>
          <p:cNvSpPr txBox="1"/>
          <p:nvPr/>
        </p:nvSpPr>
        <p:spPr>
          <a:xfrm>
            <a:off x="5120640" y="1325880"/>
            <a:ext cx="1874520" cy="1051560"/>
          </a:xfrm>
          <a:prstGeom prst="rect">
            <a:avLst/>
          </a:prstGeom>
          <a:noFill/>
          <a:ln/>
        </p:spPr>
        <p:txBody>
          <a:bodyPr wrap="square" lIns="508" tIns="508" rIns="508" bIns="508" rtlCol="0" anchor="ctr"/>
          <a:lstStyle/>
          <a:p>
            <a:pPr algn="ctr" indent="0" marL="0">
              <a:buNone/>
            </a:pPr>
            <a:r>
              <a:rPr lang="en-US" sz="1400" b="1" dirty="0">
                <a:solidFill>
                  <a:schemeClr val="tx1"/>
                </a:solidFill>
              </a:rPr>
              <a:t>Communication Analyst</a:t>
            </a:r>
            <a:endParaRPr lang="en-US" sz="1400" dirty="0"/>
          </a:p>
          <a:p>
            <a:pPr algn="ctr" indent="0" marL="0">
              <a:buNone/>
            </a:pPr>
            <a:r>
              <a:rPr lang="en-US" sz="1200" dirty="0">
                <a:solidFill>
                  <a:schemeClr val="tx1"/>
                </a:solidFill>
              </a:rPr>
              <a:t>Reads the chat by meaning</a:t>
            </a:r>
            <a:endParaRPr lang="en-US" sz="1400" dirty="0"/>
          </a:p>
        </p:txBody>
      </p:sp>
      <p:sp>
        <p:nvSpPr>
          <p:cNvPr id="21" name="Communication Analyst card"/>
          <p:cNvSpPr/>
          <p:nvPr/>
        </p:nvSpPr>
        <p:spPr>
          <a:xfrm>
            <a:off x="5029200" y="2514600"/>
            <a:ext cx="2057400" cy="3291840"/>
          </a:xfrm>
          <a:prstGeom prst="roundRect">
            <a:avLst>
              <a:gd name="adj" fmla="val 5333"/>
            </a:avLst>
          </a:prstGeom>
          <a:solidFill>
            <a:schemeClr val="bg2"/>
          </a:solidFill>
          <a:ln w="12700">
            <a:solidFill>
              <a:schemeClr val="bg2"/>
            </a:solidFill>
            <a:prstDash val="solid"/>
          </a:ln>
        </p:spPr>
      </p:sp>
      <p:sp>
        <p:nvSpPr>
          <p:cNvPr id="22" name="Communication Analyst card text"/>
          <p:cNvSpPr txBox="1"/>
          <p:nvPr/>
        </p:nvSpPr>
        <p:spPr>
          <a:xfrm>
            <a:off x="5120640" y="2514600"/>
            <a:ext cx="1874520" cy="3291840"/>
          </a:xfrm>
          <a:prstGeom prst="rect">
            <a:avLst/>
          </a:prstGeom>
          <a:noFill/>
          <a:ln/>
        </p:spPr>
        <p:txBody>
          <a:bodyPr wrap="square" lIns="508" tIns="508" rIns="508" bIns="508" rtlCol="0" anchor="ctr"/>
          <a:lstStyle/>
          <a:p>
            <a:pPr algn="ctr" indent="0" marL="0">
              <a:buNone/>
            </a:pPr>
            <a:endParaRPr lang="en-US" sz="1500" dirty="0"/>
          </a:p>
        </p:txBody>
      </p:sp>
      <p:sp>
        <p:nvSpPr>
          <p:cNvPr id="23" name="Text 21"/>
          <p:cNvSpPr txBox="1"/>
          <p:nvPr/>
        </p:nvSpPr>
        <p:spPr>
          <a:xfrm>
            <a:off x="5166360" y="2606040"/>
            <a:ext cx="1783080" cy="274320"/>
          </a:xfrm>
          <a:prstGeom prst="rect">
            <a:avLst/>
          </a:prstGeom>
          <a:noFill/>
          <a:ln/>
        </p:spPr>
        <p:txBody>
          <a:bodyPr wrap="square" lIns="0" tIns="0" rIns="0" bIns="0" rtlCol="0" anchor="ctr"/>
          <a:lstStyle/>
          <a:p>
            <a:pPr algn="l" indent="0" marL="0">
              <a:buNone/>
            </a:pPr>
            <a:r>
              <a:rPr lang="en-US" sz="1200" b="1" dirty="0">
                <a:solidFill>
                  <a:schemeClr val="tx2"/>
                </a:solidFill>
              </a:rPr>
              <a:t>Reads</a:t>
            </a:r>
            <a:endParaRPr lang="en-US" sz="1200" dirty="0"/>
          </a:p>
        </p:txBody>
      </p:sp>
      <p:sp>
        <p:nvSpPr>
          <p:cNvPr id="24" name="Text 22"/>
          <p:cNvSpPr txBox="1"/>
          <p:nvPr/>
        </p:nvSpPr>
        <p:spPr>
          <a:xfrm>
            <a:off x="5166360" y="2880360"/>
            <a:ext cx="1783080" cy="1280160"/>
          </a:xfrm>
          <a:prstGeom prst="rect">
            <a:avLst/>
          </a:prstGeom>
          <a:noFill/>
          <a:ln/>
        </p:spPr>
        <p:txBody>
          <a:bodyPr wrap="square" lIns="0" tIns="0" rIns="0" bIns="0" rtlCol="0" anchor="t"/>
          <a:lstStyle/>
          <a:p>
            <a:pPr algn="l" indent="0" marL="0">
              <a:buNone/>
            </a:pPr>
            <a:r>
              <a:rPr lang="en-US" sz="1200" dirty="0">
                <a:solidFill>
                  <a:schemeClr val="tx1"/>
                </a:solidFill>
              </a:rPr>
              <a:t>Chat only: no complaint, no arguments, no requester</a:t>
            </a:r>
            <a:endParaRPr lang="en-US" sz="1200" dirty="0"/>
          </a:p>
        </p:txBody>
      </p:sp>
      <p:sp>
        <p:nvSpPr>
          <p:cNvPr id="25" name="Text 23"/>
          <p:cNvSpPr txBox="1"/>
          <p:nvPr/>
        </p:nvSpPr>
        <p:spPr>
          <a:xfrm>
            <a:off x="5166360" y="4206240"/>
            <a:ext cx="1783080" cy="274320"/>
          </a:xfrm>
          <a:prstGeom prst="rect">
            <a:avLst/>
          </a:prstGeom>
          <a:noFill/>
          <a:ln/>
        </p:spPr>
        <p:txBody>
          <a:bodyPr wrap="square" lIns="0" tIns="0" rIns="0" bIns="0" rtlCol="0" anchor="ctr"/>
          <a:lstStyle/>
          <a:p>
            <a:pPr algn="l" indent="0" marL="0">
              <a:buNone/>
            </a:pPr>
            <a:r>
              <a:rPr lang="en-US" sz="1200" b="1" dirty="0">
                <a:solidFill>
                  <a:schemeClr val="tx2"/>
                </a:solidFill>
              </a:rPr>
              <a:t>Returns</a:t>
            </a:r>
            <a:endParaRPr lang="en-US" sz="1200" dirty="0"/>
          </a:p>
        </p:txBody>
      </p:sp>
      <p:sp>
        <p:nvSpPr>
          <p:cNvPr id="26" name="Text 24"/>
          <p:cNvSpPr txBox="1"/>
          <p:nvPr/>
        </p:nvSpPr>
        <p:spPr>
          <a:xfrm>
            <a:off x="5166360" y="4480560"/>
            <a:ext cx="1783080" cy="1280160"/>
          </a:xfrm>
          <a:prstGeom prst="rect">
            <a:avLst/>
          </a:prstGeom>
          <a:noFill/>
          <a:ln/>
        </p:spPr>
        <p:txBody>
          <a:bodyPr wrap="square" lIns="0" tIns="0" rIns="0" bIns="0" rtlCol="0" anchor="t"/>
          <a:lstStyle/>
          <a:p>
            <a:pPr algn="l" indent="0" marL="0">
              <a:buNone/>
            </a:pPr>
            <a:r>
              <a:rPr lang="en-US" sz="1200" dirty="0">
                <a:solidFill>
                  <a:schemeClr val="tx1"/>
                </a:solidFill>
              </a:rPr>
              <a:t>Per message: reroute notice, reason, agree, object, confidence</a:t>
            </a:r>
            <a:endParaRPr lang="en-US" sz="1200" dirty="0"/>
          </a:p>
        </p:txBody>
      </p:sp>
      <p:sp>
        <p:nvSpPr>
          <p:cNvPr id="27" name="Policy &amp; Precedent"/>
          <p:cNvSpPr/>
          <p:nvPr/>
        </p:nvSpPr>
        <p:spPr>
          <a:xfrm>
            <a:off x="7269480" y="1325880"/>
            <a:ext cx="2057400" cy="1051560"/>
          </a:xfrm>
          <a:prstGeom prst="roundRect">
            <a:avLst>
              <a:gd name="adj" fmla="val 10435"/>
            </a:avLst>
          </a:prstGeom>
          <a:solidFill>
            <a:schemeClr val="accent1"/>
          </a:solidFill>
          <a:ln w="12700">
            <a:solidFill>
              <a:schemeClr val="accent1"/>
            </a:solidFill>
            <a:prstDash val="solid"/>
          </a:ln>
        </p:spPr>
      </p:sp>
      <p:sp>
        <p:nvSpPr>
          <p:cNvPr id="28" name="Policy &amp; Precedent text"/>
          <p:cNvSpPr txBox="1"/>
          <p:nvPr/>
        </p:nvSpPr>
        <p:spPr>
          <a:xfrm>
            <a:off x="7360920" y="1325880"/>
            <a:ext cx="1874520" cy="1051560"/>
          </a:xfrm>
          <a:prstGeom prst="rect">
            <a:avLst/>
          </a:prstGeom>
          <a:noFill/>
          <a:ln/>
        </p:spPr>
        <p:txBody>
          <a:bodyPr wrap="square" lIns="508" tIns="508" rIns="508" bIns="508" rtlCol="0" anchor="ctr"/>
          <a:lstStyle/>
          <a:p>
            <a:pPr algn="ctr" indent="0" marL="0">
              <a:buNone/>
            </a:pPr>
            <a:r>
              <a:rPr lang="en-US" sz="1400" b="1" dirty="0">
                <a:solidFill>
                  <a:schemeClr val="bg1"/>
                </a:solidFill>
              </a:rPr>
              <a:t>Policy &amp; Precedent</a:t>
            </a:r>
            <a:endParaRPr lang="en-US" sz="1400" dirty="0"/>
          </a:p>
          <a:p>
            <a:pPr algn="ctr" indent="0" marL="0">
              <a:buNone/>
            </a:pPr>
            <a:r>
              <a:rPr lang="en-US" sz="1200" dirty="0">
                <a:solidFill>
                  <a:schemeClr val="bg1"/>
                </a:solidFill>
              </a:rPr>
              <a:t>Policy in force + past rulings</a:t>
            </a:r>
            <a:endParaRPr lang="en-US" sz="1400" dirty="0"/>
          </a:p>
        </p:txBody>
      </p:sp>
      <p:sp>
        <p:nvSpPr>
          <p:cNvPr id="29" name="Policy &amp; Precedent card"/>
          <p:cNvSpPr/>
          <p:nvPr/>
        </p:nvSpPr>
        <p:spPr>
          <a:xfrm>
            <a:off x="7269480" y="2514600"/>
            <a:ext cx="2057400" cy="3291840"/>
          </a:xfrm>
          <a:prstGeom prst="roundRect">
            <a:avLst>
              <a:gd name="adj" fmla="val 5333"/>
            </a:avLst>
          </a:prstGeom>
          <a:solidFill>
            <a:schemeClr val="bg2"/>
          </a:solidFill>
          <a:ln w="12700">
            <a:solidFill>
              <a:schemeClr val="bg2"/>
            </a:solidFill>
            <a:prstDash val="solid"/>
          </a:ln>
        </p:spPr>
      </p:sp>
      <p:sp>
        <p:nvSpPr>
          <p:cNvPr id="30" name="Policy &amp; Precedent card text"/>
          <p:cNvSpPr txBox="1"/>
          <p:nvPr/>
        </p:nvSpPr>
        <p:spPr>
          <a:xfrm>
            <a:off x="7360920" y="2514600"/>
            <a:ext cx="1874520" cy="3291840"/>
          </a:xfrm>
          <a:prstGeom prst="rect">
            <a:avLst/>
          </a:prstGeom>
          <a:noFill/>
          <a:ln/>
        </p:spPr>
        <p:txBody>
          <a:bodyPr wrap="square" lIns="508" tIns="508" rIns="508" bIns="508" rtlCol="0" anchor="ctr"/>
          <a:lstStyle/>
          <a:p>
            <a:pPr algn="ctr" indent="0" marL="0">
              <a:buNone/>
            </a:pPr>
            <a:endParaRPr lang="en-US" sz="1500" dirty="0"/>
          </a:p>
        </p:txBody>
      </p:sp>
      <p:sp>
        <p:nvSpPr>
          <p:cNvPr id="31" name="Text 29"/>
          <p:cNvSpPr txBox="1"/>
          <p:nvPr/>
        </p:nvSpPr>
        <p:spPr>
          <a:xfrm>
            <a:off x="7406640" y="2606040"/>
            <a:ext cx="1783080" cy="274320"/>
          </a:xfrm>
          <a:prstGeom prst="rect">
            <a:avLst/>
          </a:prstGeom>
          <a:noFill/>
          <a:ln/>
        </p:spPr>
        <p:txBody>
          <a:bodyPr wrap="square" lIns="0" tIns="0" rIns="0" bIns="0" rtlCol="0" anchor="ctr"/>
          <a:lstStyle/>
          <a:p>
            <a:pPr algn="l" indent="0" marL="0">
              <a:buNone/>
            </a:pPr>
            <a:r>
              <a:rPr lang="en-US" sz="1200" b="1" dirty="0">
                <a:solidFill>
                  <a:schemeClr val="tx2"/>
                </a:solidFill>
              </a:rPr>
              <a:t>Reads</a:t>
            </a:r>
            <a:endParaRPr lang="en-US" sz="1200" dirty="0"/>
          </a:p>
        </p:txBody>
      </p:sp>
      <p:sp>
        <p:nvSpPr>
          <p:cNvPr id="32" name="Text 30"/>
          <p:cNvSpPr txBox="1"/>
          <p:nvPr/>
        </p:nvSpPr>
        <p:spPr>
          <a:xfrm>
            <a:off x="7406640" y="2880360"/>
            <a:ext cx="1783080" cy="1280160"/>
          </a:xfrm>
          <a:prstGeom prst="rect">
            <a:avLst/>
          </a:prstGeom>
          <a:noFill/>
          <a:ln/>
        </p:spPr>
        <p:txBody>
          <a:bodyPr wrap="square" lIns="0" tIns="0" rIns="0" bIns="0" rtlCol="0" anchor="t"/>
          <a:lstStyle/>
          <a:p>
            <a:pPr algn="l" indent="0" marL="0">
              <a:buNone/>
            </a:pPr>
            <a:r>
              <a:rPr lang="en-US" sz="1200" dirty="0">
                <a:solidFill>
                  <a:schemeClr val="tx1"/>
                </a:solidFill>
              </a:rPr>
              <a:t>search_policy, search_precedents</a:t>
            </a:r>
            <a:endParaRPr lang="en-US" sz="1200" dirty="0"/>
          </a:p>
        </p:txBody>
      </p:sp>
      <p:sp>
        <p:nvSpPr>
          <p:cNvPr id="33" name="Text 31"/>
          <p:cNvSpPr txBox="1"/>
          <p:nvPr/>
        </p:nvSpPr>
        <p:spPr>
          <a:xfrm>
            <a:off x="7406640" y="4206240"/>
            <a:ext cx="1783080" cy="274320"/>
          </a:xfrm>
          <a:prstGeom prst="rect">
            <a:avLst/>
          </a:prstGeom>
          <a:noFill/>
          <a:ln/>
        </p:spPr>
        <p:txBody>
          <a:bodyPr wrap="square" lIns="0" tIns="0" rIns="0" bIns="0" rtlCol="0" anchor="ctr"/>
          <a:lstStyle/>
          <a:p>
            <a:pPr algn="l" indent="0" marL="0">
              <a:buNone/>
            </a:pPr>
            <a:r>
              <a:rPr lang="en-US" sz="1200" b="1" dirty="0">
                <a:solidFill>
                  <a:schemeClr val="tx2"/>
                </a:solidFill>
              </a:rPr>
              <a:t>Returns</a:t>
            </a:r>
            <a:endParaRPr lang="en-US" sz="1200" dirty="0"/>
          </a:p>
        </p:txBody>
      </p:sp>
      <p:sp>
        <p:nvSpPr>
          <p:cNvPr id="34" name="Text 32"/>
          <p:cNvSpPr txBox="1"/>
          <p:nvPr/>
        </p:nvSpPr>
        <p:spPr>
          <a:xfrm>
            <a:off x="7406640" y="4480560"/>
            <a:ext cx="1783080" cy="1280160"/>
          </a:xfrm>
          <a:prstGeom prst="rect">
            <a:avLst/>
          </a:prstGeom>
          <a:noFill/>
          <a:ln/>
        </p:spPr>
        <p:txBody>
          <a:bodyPr wrap="square" lIns="0" tIns="0" rIns="0" bIns="0" rtlCol="0" anchor="t"/>
          <a:lstStyle/>
          <a:p>
            <a:pPr algn="l" indent="0" marL="0">
              <a:buNone/>
            </a:pPr>
            <a:r>
              <a:rPr lang="en-US" sz="1200" dirty="0">
                <a:solidFill>
                  <a:schemeClr val="tx1"/>
                </a:solidFill>
              </a:rPr>
              <a:t>Policy refs, 3 precedents with differing facts, a recommendation</a:t>
            </a:r>
            <a:endParaRPr lang="en-US" sz="1200" dirty="0"/>
          </a:p>
        </p:txBody>
      </p:sp>
      <p:sp>
        <p:nvSpPr>
          <p:cNvPr id="35" name="Judge"/>
          <p:cNvSpPr/>
          <p:nvPr/>
        </p:nvSpPr>
        <p:spPr>
          <a:xfrm>
            <a:off x="9509760" y="1325880"/>
            <a:ext cx="2057400" cy="1051560"/>
          </a:xfrm>
          <a:prstGeom prst="roundRect">
            <a:avLst>
              <a:gd name="adj" fmla="val 10435"/>
            </a:avLst>
          </a:prstGeom>
          <a:solidFill>
            <a:schemeClr val="accent1"/>
          </a:solidFill>
          <a:ln w="12700">
            <a:solidFill>
              <a:schemeClr val="accent1"/>
            </a:solidFill>
            <a:prstDash val="solid"/>
          </a:ln>
        </p:spPr>
      </p:sp>
      <p:sp>
        <p:nvSpPr>
          <p:cNvPr id="36" name="Judge text"/>
          <p:cNvSpPr txBox="1"/>
          <p:nvPr/>
        </p:nvSpPr>
        <p:spPr>
          <a:xfrm>
            <a:off x="9601200" y="1325880"/>
            <a:ext cx="1874520" cy="1051560"/>
          </a:xfrm>
          <a:prstGeom prst="rect">
            <a:avLst/>
          </a:prstGeom>
          <a:noFill/>
          <a:ln/>
        </p:spPr>
        <p:txBody>
          <a:bodyPr wrap="square" lIns="508" tIns="508" rIns="508" bIns="508" rtlCol="0" anchor="ctr"/>
          <a:lstStyle/>
          <a:p>
            <a:pPr algn="ctr" indent="0" marL="0">
              <a:buNone/>
            </a:pPr>
            <a:r>
              <a:rPr lang="en-US" sz="1400" b="1" dirty="0">
                <a:solidFill>
                  <a:schemeClr val="bg1"/>
                </a:solidFill>
              </a:rPr>
              <a:t>Judge</a:t>
            </a:r>
            <a:endParaRPr lang="en-US" sz="1400" dirty="0"/>
          </a:p>
          <a:p>
            <a:pPr algn="ctr" indent="0" marL="0">
              <a:buNone/>
            </a:pPr>
            <a:r>
              <a:rPr lang="en-US" sz="1200" dirty="0">
                <a:solidFill>
                  <a:schemeClr val="bg1"/>
                </a:solidFill>
              </a:rPr>
              <a:t>Rules on validated arguments</a:t>
            </a:r>
            <a:endParaRPr lang="en-US" sz="1400" dirty="0"/>
          </a:p>
        </p:txBody>
      </p:sp>
      <p:sp>
        <p:nvSpPr>
          <p:cNvPr id="37" name="Judge card"/>
          <p:cNvSpPr/>
          <p:nvPr/>
        </p:nvSpPr>
        <p:spPr>
          <a:xfrm>
            <a:off x="9509760" y="2514600"/>
            <a:ext cx="2057400" cy="3291840"/>
          </a:xfrm>
          <a:prstGeom prst="roundRect">
            <a:avLst>
              <a:gd name="adj" fmla="val 5333"/>
            </a:avLst>
          </a:prstGeom>
          <a:solidFill>
            <a:schemeClr val="bg2"/>
          </a:solidFill>
          <a:ln w="12700">
            <a:solidFill>
              <a:schemeClr val="bg2"/>
            </a:solidFill>
            <a:prstDash val="solid"/>
          </a:ln>
        </p:spPr>
      </p:sp>
      <p:sp>
        <p:nvSpPr>
          <p:cNvPr id="38" name="Judge card text"/>
          <p:cNvSpPr txBox="1"/>
          <p:nvPr/>
        </p:nvSpPr>
        <p:spPr>
          <a:xfrm>
            <a:off x="9601200" y="2514600"/>
            <a:ext cx="1874520" cy="3291840"/>
          </a:xfrm>
          <a:prstGeom prst="rect">
            <a:avLst/>
          </a:prstGeom>
          <a:noFill/>
          <a:ln/>
        </p:spPr>
        <p:txBody>
          <a:bodyPr wrap="square" lIns="508" tIns="508" rIns="508" bIns="508" rtlCol="0" anchor="ctr"/>
          <a:lstStyle/>
          <a:p>
            <a:pPr algn="ctr" indent="0" marL="0">
              <a:buNone/>
            </a:pPr>
            <a:endParaRPr lang="en-US" sz="1500" dirty="0"/>
          </a:p>
        </p:txBody>
      </p:sp>
      <p:sp>
        <p:nvSpPr>
          <p:cNvPr id="39" name="Text 37"/>
          <p:cNvSpPr txBox="1"/>
          <p:nvPr/>
        </p:nvSpPr>
        <p:spPr>
          <a:xfrm>
            <a:off x="9646920" y="2606040"/>
            <a:ext cx="1783080" cy="274320"/>
          </a:xfrm>
          <a:prstGeom prst="rect">
            <a:avLst/>
          </a:prstGeom>
          <a:noFill/>
          <a:ln/>
        </p:spPr>
        <p:txBody>
          <a:bodyPr wrap="square" lIns="0" tIns="0" rIns="0" bIns="0" rtlCol="0" anchor="ctr"/>
          <a:lstStyle/>
          <a:p>
            <a:pPr algn="l" indent="0" marL="0">
              <a:buNone/>
            </a:pPr>
            <a:r>
              <a:rPr lang="en-US" sz="1200" b="1" dirty="0">
                <a:solidFill>
                  <a:schemeClr val="tx2"/>
                </a:solidFill>
              </a:rPr>
              <a:t>Reads</a:t>
            </a:r>
            <a:endParaRPr lang="en-US" sz="1200" dirty="0"/>
          </a:p>
        </p:txBody>
      </p:sp>
      <p:sp>
        <p:nvSpPr>
          <p:cNvPr id="40" name="Text 38"/>
          <p:cNvSpPr txBox="1"/>
          <p:nvPr/>
        </p:nvSpPr>
        <p:spPr>
          <a:xfrm>
            <a:off x="9646920" y="2880360"/>
            <a:ext cx="1783080" cy="1280160"/>
          </a:xfrm>
          <a:prstGeom prst="rect">
            <a:avLst/>
          </a:prstGeom>
          <a:noFill/>
          <a:ln/>
        </p:spPr>
        <p:txBody>
          <a:bodyPr wrap="square" lIns="0" tIns="0" rIns="0" bIns="0" rtlCol="0" anchor="t"/>
          <a:lstStyle/>
          <a:p>
            <a:pPr algn="l" indent="0" marL="0">
              <a:buNone/>
            </a:pPr>
            <a:r>
              <a:rPr lang="en-US" sz="1200" dirty="0">
                <a:solidFill>
                  <a:schemeClr val="tx1"/>
                </a:solidFill>
              </a:rPr>
              <a:t>Compacted evidence, both arguments, recommendation</a:t>
            </a:r>
            <a:endParaRPr lang="en-US" sz="1200" dirty="0"/>
          </a:p>
        </p:txBody>
      </p:sp>
      <p:sp>
        <p:nvSpPr>
          <p:cNvPr id="41" name="Text 39"/>
          <p:cNvSpPr txBox="1"/>
          <p:nvPr/>
        </p:nvSpPr>
        <p:spPr>
          <a:xfrm>
            <a:off x="9646920" y="4206240"/>
            <a:ext cx="1783080" cy="274320"/>
          </a:xfrm>
          <a:prstGeom prst="rect">
            <a:avLst/>
          </a:prstGeom>
          <a:noFill/>
          <a:ln/>
        </p:spPr>
        <p:txBody>
          <a:bodyPr wrap="square" lIns="0" tIns="0" rIns="0" bIns="0" rtlCol="0" anchor="ctr"/>
          <a:lstStyle/>
          <a:p>
            <a:pPr algn="l" indent="0" marL="0">
              <a:buNone/>
            </a:pPr>
            <a:r>
              <a:rPr lang="en-US" sz="1200" b="1" dirty="0">
                <a:solidFill>
                  <a:schemeClr val="tx2"/>
                </a:solidFill>
              </a:rPr>
              <a:t>Returns</a:t>
            </a:r>
            <a:endParaRPr lang="en-US" sz="1200" dirty="0"/>
          </a:p>
        </p:txBody>
      </p:sp>
      <p:sp>
        <p:nvSpPr>
          <p:cNvPr id="42" name="Text 40"/>
          <p:cNvSpPr txBox="1"/>
          <p:nvPr/>
        </p:nvSpPr>
        <p:spPr>
          <a:xfrm>
            <a:off x="9646920" y="4480560"/>
            <a:ext cx="1783080" cy="1280160"/>
          </a:xfrm>
          <a:prstGeom prst="rect">
            <a:avLst/>
          </a:prstGeom>
          <a:noFill/>
          <a:ln/>
        </p:spPr>
        <p:txBody>
          <a:bodyPr wrap="square" lIns="0" tIns="0" rIns="0" bIns="0" rtlCol="0" anchor="t"/>
          <a:lstStyle/>
          <a:p>
            <a:pPr algn="l" indent="0" marL="0">
              <a:buNone/>
            </a:pPr>
            <a:r>
              <a:rPr lang="en-US" sz="1200" dirty="0">
                <a:solidFill>
                  <a:schemeClr val="tx1"/>
                </a:solidFill>
              </a:rPr>
              <a:t>Liability, reasons, explanations for each party</a:t>
            </a:r>
            <a:endParaRPr lang="en-US" sz="1200" dirty="0"/>
          </a:p>
        </p:txBody>
      </p:sp>
      <p:sp>
        <p:nvSpPr>
          <p:cNvPr id="43" name="Text 41"/>
          <p:cNvSpPr txBox="1"/>
          <p:nvPr/>
        </p:nvSpPr>
        <p:spPr>
          <a:xfrm>
            <a:off x="548640" y="5897880"/>
            <a:ext cx="11064240" cy="365760"/>
          </a:xfrm>
          <a:prstGeom prst="rect">
            <a:avLst/>
          </a:prstGeom>
          <a:noFill/>
          <a:ln/>
        </p:spPr>
        <p:txBody>
          <a:bodyPr wrap="square" lIns="0" tIns="0" rIns="0" bIns="0" rtlCol="0" anchor="ctr"/>
          <a:lstStyle/>
          <a:p>
            <a:pPr algn="l" indent="0" marL="0">
              <a:buNone/>
            </a:pPr>
            <a:r>
              <a:rPr lang="en-US" sz="1300" i="1" dirty="0">
                <a:solidFill>
                  <a:schemeClr val="tx2"/>
                </a:solidFill>
              </a:rPr>
              <a:t>Every answer is schema-checked; one plain-language correction turn per answer, then the workflow validates it independently</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2"/>
                </a:solidFill>
              </a:rPr>
              <a:t>Two keys before anything is automated</a:t>
            </a:r>
            <a:endParaRPr lang="en-US" sz="3200" dirty="0"/>
          </a:p>
        </p:txBody>
      </p:sp>
      <p:sp>
        <p:nvSpPr>
          <p:cNvPr id="3" name="Judge (LLM)"/>
          <p:cNvSpPr/>
          <p:nvPr/>
        </p:nvSpPr>
        <p:spPr>
          <a:xfrm>
            <a:off x="548640" y="1463040"/>
            <a:ext cx="2743200" cy="1005840"/>
          </a:xfrm>
          <a:prstGeom prst="roundRect">
            <a:avLst>
              <a:gd name="adj" fmla="val 10909"/>
            </a:avLst>
          </a:prstGeom>
          <a:solidFill>
            <a:schemeClr val="accent1"/>
          </a:solidFill>
          <a:ln w="12700">
            <a:solidFill>
              <a:schemeClr val="accent1"/>
            </a:solidFill>
            <a:prstDash val="solid"/>
          </a:ln>
        </p:spPr>
      </p:sp>
      <p:sp>
        <p:nvSpPr>
          <p:cNvPr id="4" name="Judge (LLM) text"/>
          <p:cNvSpPr txBox="1"/>
          <p:nvPr/>
        </p:nvSpPr>
        <p:spPr>
          <a:xfrm>
            <a:off x="640080" y="1463040"/>
            <a:ext cx="2560320" cy="1005840"/>
          </a:xfrm>
          <a:prstGeom prst="rect">
            <a:avLst/>
          </a:prstGeom>
          <a:noFill/>
          <a:ln/>
        </p:spPr>
        <p:txBody>
          <a:bodyPr wrap="square" lIns="508" tIns="508" rIns="508" bIns="508" rtlCol="0" anchor="ctr"/>
          <a:lstStyle/>
          <a:p>
            <a:pPr algn="ctr" indent="0" marL="0">
              <a:buNone/>
            </a:pPr>
            <a:r>
              <a:rPr lang="en-US" sz="1500" b="1" dirty="0">
                <a:solidFill>
                  <a:schemeClr val="bg1"/>
                </a:solidFill>
              </a:rPr>
              <a:t>Judge (LLM)</a:t>
            </a:r>
            <a:endParaRPr lang="en-US" sz="1500" dirty="0"/>
          </a:p>
          <a:p>
            <a:pPr algn="ctr" indent="0" marL="0">
              <a:buNone/>
            </a:pPr>
            <a:r>
              <a:rPr lang="en-US" sz="1200" dirty="0">
                <a:solidFill>
                  <a:schemeClr val="bg1"/>
                </a:solidFill>
              </a:rPr>
              <a:t>liability + reasons</a:t>
            </a:r>
            <a:endParaRPr lang="en-US" sz="1500" dirty="0"/>
          </a:p>
        </p:txBody>
      </p:sp>
      <p:sp>
        <p:nvSpPr>
          <p:cNvPr id="5" name="Policy rule (code)"/>
          <p:cNvSpPr/>
          <p:nvPr/>
        </p:nvSpPr>
        <p:spPr>
          <a:xfrm>
            <a:off x="548640" y="3108960"/>
            <a:ext cx="2743200" cy="1005840"/>
          </a:xfrm>
          <a:prstGeom prst="roundRect">
            <a:avLst>
              <a:gd name="adj" fmla="val 10909"/>
            </a:avLst>
          </a:prstGeom>
          <a:solidFill>
            <a:schemeClr val="tx2"/>
          </a:solidFill>
          <a:ln w="12700">
            <a:solidFill>
              <a:schemeClr val="tx2"/>
            </a:solidFill>
            <a:prstDash val="solid"/>
          </a:ln>
        </p:spPr>
      </p:sp>
      <p:sp>
        <p:nvSpPr>
          <p:cNvPr id="6" name="Policy rule (code) text"/>
          <p:cNvSpPr txBox="1"/>
          <p:nvPr/>
        </p:nvSpPr>
        <p:spPr>
          <a:xfrm>
            <a:off x="640080" y="3108960"/>
            <a:ext cx="2560320" cy="1005840"/>
          </a:xfrm>
          <a:prstGeom prst="rect">
            <a:avLst/>
          </a:prstGeom>
          <a:noFill/>
          <a:ln/>
        </p:spPr>
        <p:txBody>
          <a:bodyPr wrap="square" lIns="508" tIns="508" rIns="508" bIns="508" rtlCol="0" anchor="ctr"/>
          <a:lstStyle/>
          <a:p>
            <a:pPr algn="ctr" indent="0" marL="0">
              <a:buNone/>
            </a:pPr>
            <a:r>
              <a:rPr lang="en-US" sz="1500" b="1" dirty="0">
                <a:solidFill>
                  <a:schemeClr val="bg1"/>
                </a:solidFill>
              </a:rPr>
              <a:t>Policy rule (code)</a:t>
            </a:r>
            <a:endParaRPr lang="en-US" sz="1500" dirty="0"/>
          </a:p>
          <a:p>
            <a:pPr algn="ctr" indent="0" marL="0">
              <a:buNone/>
            </a:pPr>
            <a:r>
              <a:rPr lang="en-US" sz="1200" dirty="0">
                <a:solidFill>
                  <a:schemeClr val="bg2"/>
                </a:solidFill>
              </a:rPr>
              <a:t>recomputed from cited evidence</a:t>
            </a:r>
            <a:endParaRPr lang="en-US" sz="1500" dirty="0"/>
          </a:p>
        </p:txBody>
      </p:sp>
      <p:sp>
        <p:nvSpPr>
          <p:cNvPr id="7" name="Shape 5"/>
          <p:cNvSpPr/>
          <p:nvPr/>
        </p:nvSpPr>
        <p:spPr>
          <a:xfrm>
            <a:off x="3291840" y="1965960"/>
            <a:ext cx="914400" cy="685800"/>
          </a:xfrm>
          <a:prstGeom prst="line">
            <a:avLst/>
          </a:prstGeom>
          <a:noFill/>
          <a:ln w="22225">
            <a:solidFill>
              <a:schemeClr val="accent4"/>
            </a:solidFill>
            <a:prstDash val="solid"/>
            <a:tailEnd type="triangle"/>
          </a:ln>
        </p:spPr>
      </p:sp>
      <p:sp>
        <p:nvSpPr>
          <p:cNvPr id="8" name="Shape 6"/>
          <p:cNvSpPr/>
          <p:nvPr/>
        </p:nvSpPr>
        <p:spPr>
          <a:xfrm flipV="1">
            <a:off x="3291840" y="2834640"/>
            <a:ext cx="914400" cy="777240"/>
          </a:xfrm>
          <a:prstGeom prst="line">
            <a:avLst/>
          </a:prstGeom>
          <a:noFill/>
          <a:ln w="22225">
            <a:solidFill>
              <a:schemeClr val="accent4"/>
            </a:solidFill>
            <a:prstDash val="solid"/>
            <a:tailEnd type="triangle"/>
          </a:ln>
        </p:spPr>
      </p:sp>
      <p:sp>
        <p:nvSpPr>
          <p:cNvPr id="9" name="agree diamond"/>
          <p:cNvSpPr/>
          <p:nvPr/>
        </p:nvSpPr>
        <p:spPr>
          <a:xfrm>
            <a:off x="4206240" y="2103120"/>
            <a:ext cx="1645920" cy="1463040"/>
          </a:xfrm>
          <a:prstGeom prst="diamond">
            <a:avLst/>
          </a:prstGeom>
          <a:solidFill>
            <a:schemeClr val="accent2"/>
          </a:solidFill>
          <a:ln w="12700">
            <a:solidFill>
              <a:schemeClr val="accent2"/>
            </a:solidFill>
            <a:prstDash val="solid"/>
          </a:ln>
        </p:spPr>
      </p:sp>
      <p:sp>
        <p:nvSpPr>
          <p:cNvPr id="10" name="Text 8"/>
          <p:cNvSpPr txBox="1"/>
          <p:nvPr/>
        </p:nvSpPr>
        <p:spPr>
          <a:xfrm>
            <a:off x="4206240" y="2103120"/>
            <a:ext cx="1645920" cy="1463040"/>
          </a:xfrm>
          <a:prstGeom prst="rect">
            <a:avLst/>
          </a:prstGeom>
          <a:noFill/>
          <a:ln/>
        </p:spPr>
        <p:txBody>
          <a:bodyPr wrap="square" lIns="0" tIns="0" rIns="0" bIns="0" rtlCol="0" anchor="ctr"/>
          <a:lstStyle/>
          <a:p>
            <a:pPr algn="ctr" indent="0" marL="0">
              <a:buNone/>
            </a:pPr>
            <a:r>
              <a:rPr lang="en-US" sz="1200" b="1" dirty="0">
                <a:solidFill>
                  <a:schemeClr val="tx1"/>
                </a:solidFill>
              </a:rPr>
              <a:t>Same liability, rule reasons included?</a:t>
            </a:r>
            <a:endParaRPr lang="en-US" sz="1200" dirty="0"/>
          </a:p>
        </p:txBody>
      </p:sp>
      <p:sp>
        <p:nvSpPr>
          <p:cNvPr id="11" name="Shape 9"/>
          <p:cNvSpPr/>
          <p:nvPr/>
        </p:nvSpPr>
        <p:spPr>
          <a:xfrm flipV="1">
            <a:off x="5852160" y="1920240"/>
            <a:ext cx="731520" cy="731520"/>
          </a:xfrm>
          <a:prstGeom prst="line">
            <a:avLst/>
          </a:prstGeom>
          <a:noFill/>
          <a:ln w="22225">
            <a:solidFill>
              <a:schemeClr val="accent4"/>
            </a:solidFill>
            <a:prstDash val="solid"/>
            <a:tailEnd type="triangle"/>
          </a:ln>
        </p:spPr>
      </p:sp>
      <p:sp>
        <p:nvSpPr>
          <p:cNvPr id="12" name="Shape 10"/>
          <p:cNvSpPr/>
          <p:nvPr/>
        </p:nvSpPr>
        <p:spPr>
          <a:xfrm>
            <a:off x="5852160" y="3017520"/>
            <a:ext cx="731520" cy="731520"/>
          </a:xfrm>
          <a:prstGeom prst="line">
            <a:avLst/>
          </a:prstGeom>
          <a:noFill/>
          <a:ln w="22225">
            <a:solidFill>
              <a:schemeClr val="accent4"/>
            </a:solidFill>
            <a:prstDash val="solid"/>
            <a:tailEnd type="triangle"/>
          </a:ln>
        </p:spPr>
      </p:sp>
      <p:sp>
        <p:nvSpPr>
          <p:cNvPr id="13" name="Automate"/>
          <p:cNvSpPr/>
          <p:nvPr/>
        </p:nvSpPr>
        <p:spPr>
          <a:xfrm>
            <a:off x="6583680" y="1463040"/>
            <a:ext cx="2377440" cy="868680"/>
          </a:xfrm>
          <a:prstGeom prst="roundRect">
            <a:avLst>
              <a:gd name="adj" fmla="val 12632"/>
            </a:avLst>
          </a:prstGeom>
          <a:solidFill>
            <a:schemeClr val="accent5"/>
          </a:solidFill>
          <a:ln w="12700">
            <a:solidFill>
              <a:schemeClr val="accent5"/>
            </a:solidFill>
            <a:prstDash val="solid"/>
          </a:ln>
        </p:spPr>
      </p:sp>
      <p:sp>
        <p:nvSpPr>
          <p:cNvPr id="14" name="Automate text"/>
          <p:cNvSpPr txBox="1"/>
          <p:nvPr/>
        </p:nvSpPr>
        <p:spPr>
          <a:xfrm>
            <a:off x="6675120" y="1463040"/>
            <a:ext cx="2194560" cy="868680"/>
          </a:xfrm>
          <a:prstGeom prst="rect">
            <a:avLst/>
          </a:prstGeom>
          <a:noFill/>
          <a:ln/>
        </p:spPr>
        <p:txBody>
          <a:bodyPr wrap="square" lIns="508" tIns="508" rIns="508" bIns="508" rtlCol="0" anchor="ctr"/>
          <a:lstStyle/>
          <a:p>
            <a:pPr algn="ctr" indent="0" marL="0">
              <a:buNone/>
            </a:pPr>
            <a:r>
              <a:rPr lang="en-US" sz="1500" b="1" dirty="0">
                <a:solidFill>
                  <a:schemeClr val="bg1"/>
                </a:solidFill>
              </a:rPr>
              <a:t>Automate</a:t>
            </a:r>
            <a:endParaRPr lang="en-US" sz="1500" dirty="0"/>
          </a:p>
          <a:p>
            <a:pPr algn="ctr" indent="0" marL="0">
              <a:buNone/>
            </a:pPr>
            <a:r>
              <a:rPr lang="en-US" sz="1200" dirty="0">
                <a:solidFill>
                  <a:schemeClr val="bg1"/>
                </a:solidFill>
              </a:rPr>
              <a:t>refund engine computes money</a:t>
            </a:r>
            <a:endParaRPr lang="en-US" sz="1500" dirty="0"/>
          </a:p>
        </p:txBody>
      </p:sp>
      <p:sp>
        <p:nvSpPr>
          <p:cNvPr id="15" name="Human review"/>
          <p:cNvSpPr/>
          <p:nvPr/>
        </p:nvSpPr>
        <p:spPr>
          <a:xfrm>
            <a:off x="6583680" y="3337560"/>
            <a:ext cx="2377440" cy="868680"/>
          </a:xfrm>
          <a:prstGeom prst="roundRect">
            <a:avLst>
              <a:gd name="adj" fmla="val 12632"/>
            </a:avLst>
          </a:prstGeom>
          <a:solidFill>
            <a:schemeClr val="accent3"/>
          </a:solidFill>
          <a:ln w="12700">
            <a:solidFill>
              <a:schemeClr val="accent3"/>
            </a:solidFill>
            <a:prstDash val="solid"/>
          </a:ln>
        </p:spPr>
      </p:sp>
      <p:sp>
        <p:nvSpPr>
          <p:cNvPr id="16" name="Human review text"/>
          <p:cNvSpPr txBox="1"/>
          <p:nvPr/>
        </p:nvSpPr>
        <p:spPr>
          <a:xfrm>
            <a:off x="6675120" y="3337560"/>
            <a:ext cx="2194560" cy="868680"/>
          </a:xfrm>
          <a:prstGeom prst="rect">
            <a:avLst/>
          </a:prstGeom>
          <a:noFill/>
          <a:ln/>
        </p:spPr>
        <p:txBody>
          <a:bodyPr wrap="square" lIns="508" tIns="508" rIns="508" bIns="508" rtlCol="0" anchor="ctr"/>
          <a:lstStyle/>
          <a:p>
            <a:pPr algn="ctr" indent="0" marL="0">
              <a:buNone/>
            </a:pPr>
            <a:r>
              <a:rPr lang="en-US" sz="1500" b="1" dirty="0">
                <a:solidFill>
                  <a:schemeClr val="bg1"/>
                </a:solidFill>
              </a:rPr>
              <a:t>Human review</a:t>
            </a:r>
            <a:endParaRPr lang="en-US" sz="1500" dirty="0"/>
          </a:p>
          <a:p>
            <a:pPr algn="ctr" indent="0" marL="0">
              <a:buNone/>
            </a:pPr>
            <a:r>
              <a:rPr lang="en-US" sz="1200" dirty="0">
                <a:solidFill>
                  <a:schemeClr val="bg1"/>
                </a:solidFill>
              </a:rPr>
              <a:t>both views shown</a:t>
            </a:r>
            <a:endParaRPr lang="en-US" sz="1500" dirty="0"/>
          </a:p>
        </p:txBody>
      </p:sp>
      <p:sp>
        <p:nvSpPr>
          <p:cNvPr id="17" name="Text 15"/>
          <p:cNvSpPr txBox="1"/>
          <p:nvPr/>
        </p:nvSpPr>
        <p:spPr>
          <a:xfrm>
            <a:off x="5943600" y="1874520"/>
            <a:ext cx="731520" cy="274320"/>
          </a:xfrm>
          <a:prstGeom prst="rect">
            <a:avLst/>
          </a:prstGeom>
          <a:noFill/>
          <a:ln/>
        </p:spPr>
        <p:txBody>
          <a:bodyPr wrap="square" lIns="0" tIns="0" rIns="0" bIns="0" rtlCol="0" anchor="ctr"/>
          <a:lstStyle/>
          <a:p>
            <a:pPr algn="ctr" indent="0" marL="0">
              <a:buNone/>
            </a:pPr>
            <a:r>
              <a:rPr lang="en-US" sz="1100" i="1" dirty="0">
                <a:solidFill>
                  <a:schemeClr val="accent4"/>
                </a:solidFill>
              </a:rPr>
              <a:t>yes</a:t>
            </a:r>
            <a:endParaRPr lang="en-US" sz="1100" dirty="0"/>
          </a:p>
        </p:txBody>
      </p:sp>
      <p:sp>
        <p:nvSpPr>
          <p:cNvPr id="18" name="Text 16"/>
          <p:cNvSpPr txBox="1"/>
          <p:nvPr/>
        </p:nvSpPr>
        <p:spPr>
          <a:xfrm>
            <a:off x="5943600" y="3429000"/>
            <a:ext cx="731520" cy="274320"/>
          </a:xfrm>
          <a:prstGeom prst="rect">
            <a:avLst/>
          </a:prstGeom>
          <a:noFill/>
          <a:ln/>
        </p:spPr>
        <p:txBody>
          <a:bodyPr wrap="square" lIns="0" tIns="0" rIns="0" bIns="0" rtlCol="0" anchor="ctr"/>
          <a:lstStyle/>
          <a:p>
            <a:pPr algn="ctr" indent="0" marL="0">
              <a:buNone/>
            </a:pPr>
            <a:r>
              <a:rPr lang="en-US" sz="1100" i="1" dirty="0">
                <a:solidFill>
                  <a:schemeClr val="accent4"/>
                </a:solidFill>
              </a:rPr>
              <a:t>no</a:t>
            </a:r>
            <a:endParaRPr lang="en-US" sz="1100" dirty="0"/>
          </a:p>
        </p:txBody>
      </p:sp>
      <p:sp>
        <p:nvSpPr>
          <p:cNvPr id="19" name="escalate panel"/>
          <p:cNvSpPr/>
          <p:nvPr/>
        </p:nvSpPr>
        <p:spPr>
          <a:xfrm>
            <a:off x="9326880" y="1325880"/>
            <a:ext cx="2286000" cy="4526280"/>
          </a:xfrm>
          <a:prstGeom prst="roundRect">
            <a:avLst>
              <a:gd name="adj" fmla="val 4800"/>
            </a:avLst>
          </a:prstGeom>
          <a:solidFill>
            <a:schemeClr val="bg2"/>
          </a:solidFill>
          <a:ln w="12700">
            <a:solidFill>
              <a:schemeClr val="bg2"/>
            </a:solidFill>
            <a:prstDash val="solid"/>
          </a:ln>
        </p:spPr>
      </p:sp>
      <p:sp>
        <p:nvSpPr>
          <p:cNvPr id="20" name="escalate panel text"/>
          <p:cNvSpPr txBox="1"/>
          <p:nvPr/>
        </p:nvSpPr>
        <p:spPr>
          <a:xfrm>
            <a:off x="9418320" y="1325880"/>
            <a:ext cx="2103120" cy="4526280"/>
          </a:xfrm>
          <a:prstGeom prst="rect">
            <a:avLst/>
          </a:prstGeom>
          <a:noFill/>
          <a:ln/>
        </p:spPr>
        <p:txBody>
          <a:bodyPr wrap="square" lIns="508" tIns="508" rIns="508" bIns="508" rtlCol="0" anchor="ctr"/>
          <a:lstStyle/>
          <a:p>
            <a:pPr algn="ctr" indent="0" marL="0">
              <a:buNone/>
            </a:pPr>
            <a:endParaRPr lang="en-US" sz="1500" dirty="0"/>
          </a:p>
        </p:txBody>
      </p:sp>
      <p:sp>
        <p:nvSpPr>
          <p:cNvPr id="21" name="Text 19"/>
          <p:cNvSpPr txBox="1"/>
          <p:nvPr/>
        </p:nvSpPr>
        <p:spPr>
          <a:xfrm>
            <a:off x="9464040" y="1417320"/>
            <a:ext cx="2011680" cy="365760"/>
          </a:xfrm>
          <a:prstGeom prst="rect">
            <a:avLst/>
          </a:prstGeom>
          <a:noFill/>
          <a:ln/>
        </p:spPr>
        <p:txBody>
          <a:bodyPr wrap="square" lIns="0" tIns="0" rIns="0" bIns="0" rtlCol="0" anchor="ctr"/>
          <a:lstStyle/>
          <a:p>
            <a:pPr algn="l" indent="0" marL="0">
              <a:buNone/>
            </a:pPr>
            <a:r>
              <a:rPr lang="en-US" sz="1600" b="1" dirty="0">
                <a:solidFill>
                  <a:schemeClr val="accent3"/>
                </a:solidFill>
              </a:rPr>
              <a:t>Always a person</a:t>
            </a:r>
            <a:endParaRPr lang="en-US" sz="1600" dirty="0"/>
          </a:p>
        </p:txBody>
      </p:sp>
      <p:sp>
        <p:nvSpPr>
          <p:cNvPr id="22" name="Text 20"/>
          <p:cNvSpPr txBox="1"/>
          <p:nvPr/>
        </p:nvSpPr>
        <p:spPr>
          <a:xfrm>
            <a:off x="9464040" y="1828800"/>
            <a:ext cx="2057400" cy="3931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Safety threats</a:t>
            </a:r>
            <a:endParaRPr lang="en-US" sz="1400" dirty="0"/>
          </a:p>
          <a:p>
            <a:pPr marL="342900" indent="-342900">
              <a:spcAft>
                <a:spcPts val="600"/>
              </a:spcAft>
              <a:buSzPct val="100000"/>
              <a:buChar char="•"/>
            </a:pPr>
            <a:r>
              <a:rPr lang="en-US" sz="1400" dirty="0">
                <a:solidFill>
                  <a:schemeClr val="tx1"/>
                </a:solidFill>
              </a:rPr>
              <a:t>Route deviation &gt; 2 km</a:t>
            </a:r>
            <a:endParaRPr lang="en-US" sz="1400" dirty="0"/>
          </a:p>
          <a:p>
            <a:pPr marL="342900" indent="-342900">
              <a:spcAft>
                <a:spcPts val="600"/>
              </a:spcAft>
              <a:buSzPct val="100000"/>
              <a:buChar char="•"/>
            </a:pPr>
            <a:r>
              <a:rPr lang="en-US" sz="1400" dirty="0">
                <a:solidFill>
                  <a:schemeClr val="tx1"/>
                </a:solidFill>
              </a:rPr>
              <a:t>Fraud flag below 95% confidence</a:t>
            </a:r>
            <a:endParaRPr lang="en-US" sz="1400" dirty="0"/>
          </a:p>
          <a:p>
            <a:pPr marL="342900" indent="-342900">
              <a:spcAft>
                <a:spcPts val="600"/>
              </a:spcAft>
              <a:buSzPct val="100000"/>
              <a:buChar char="•"/>
            </a:pPr>
            <a:r>
              <a:rPr lang="en-US" sz="1400" dirty="0">
                <a:solidFill>
                  <a:schemeClr val="tx1"/>
                </a:solidFill>
              </a:rPr>
              <a:t>Provider error or timeout</a:t>
            </a:r>
            <a:endParaRPr lang="en-US" sz="1400" dirty="0"/>
          </a:p>
          <a:p>
            <a:pPr marL="342900" indent="-342900">
              <a:spcAft>
                <a:spcPts val="600"/>
              </a:spcAft>
              <a:buSzPct val="100000"/>
              <a:buChar char="•"/>
            </a:pPr>
            <a:r>
              <a:rPr lang="en-US" sz="1400" dirty="0">
                <a:solidFill>
                  <a:schemeClr val="tx1"/>
                </a:solidFill>
              </a:rPr>
              <a:t>Unreadable chat (confidence &lt; 0.7)</a:t>
            </a:r>
            <a:endParaRPr lang="en-US" sz="1400" dirty="0"/>
          </a:p>
          <a:p>
            <a:pPr marL="342900" indent="-342900">
              <a:spcAft>
                <a:spcPts val="600"/>
              </a:spcAft>
              <a:buSzPct val="100000"/>
              <a:buChar char="•"/>
            </a:pPr>
            <a:r>
              <a:rPr lang="en-US" sz="1400" dirty="0">
                <a:solidFill>
                  <a:schemeClr val="tx1"/>
                </a:solidFill>
              </a:rPr>
              <a:t>Validation failure</a:t>
            </a:r>
            <a:endParaRPr lang="en-US" sz="1400" dirty="0"/>
          </a:p>
        </p:txBody>
      </p:sp>
      <p:sp>
        <p:nvSpPr>
          <p:cNvPr id="23" name="Text 21"/>
          <p:cNvSpPr txBox="1"/>
          <p:nvPr/>
        </p:nvSpPr>
        <p:spPr>
          <a:xfrm>
            <a:off x="548640" y="4526280"/>
            <a:ext cx="8503920" cy="1371600"/>
          </a:xfrm>
          <a:prstGeom prst="rect">
            <a:avLst/>
          </a:prstGeom>
          <a:noFill/>
          <a:ln/>
        </p:spPr>
        <p:txBody>
          <a:bodyPr wrap="square" lIns="0" tIns="0" rIns="0" bIns="0" rtlCol="0" anchor="t"/>
          <a:lstStyle/>
          <a:p>
            <a:pPr indent="0" marL="0">
              <a:spcAft>
                <a:spcPts val="600"/>
              </a:spcAft>
              <a:buNone/>
            </a:pPr>
            <a:r>
              <a:rPr lang="en-US" sz="1400" b="1" dirty="0">
                <a:solidFill>
                  <a:schemeClr val="tx2"/>
                </a:solidFill>
              </a:rPr>
              <a:t>AI never touches money: </a:t>
            </a:r>
            <a:pPr indent="0" marL="0">
              <a:spcAft>
                <a:spcPts val="600"/>
              </a:spcAft>
              <a:buNone/>
            </a:pPr>
            <a:r>
              <a:rPr lang="en-US" sz="1400" dirty="0">
                <a:solidFill>
                  <a:schemeClr val="tx1"/>
                </a:solidFill>
              </a:rPr>
              <a:t>amounts come only from liability and the bound clause</a:t>
            </a:r>
            <a:endParaRPr lang="en-US" sz="1400" dirty="0"/>
          </a:p>
          <a:p>
            <a:pPr indent="0" marL="0">
              <a:spcAft>
                <a:spcPts val="600"/>
              </a:spcAft>
              <a:buNone/>
            </a:pPr>
            <a:r>
              <a:rPr lang="en-US" sz="1400" b="1" dirty="0">
                <a:solidFill>
                  <a:schemeClr val="tx2"/>
                </a:solidFill>
              </a:rPr>
              <a:t>No silent fallback: </a:t>
            </a:r>
            <a:pPr indent="0" marL="0">
              <a:spcAft>
                <a:spcPts val="600"/>
              </a:spcAft>
              <a:buNone/>
            </a:pPr>
            <a:r>
              <a:rPr lang="en-US" sz="1400" dirty="0">
                <a:solidFill>
                  <a:schemeClr val="tx1"/>
                </a:solidFill>
              </a:rPr>
              <a:t>failures record the error and go to a person</a:t>
            </a:r>
            <a:endParaRPr lang="en-US" sz="1400" dirty="0"/>
          </a:p>
          <a:p>
            <a:pPr indent="0" marL="0">
              <a:spcAft>
                <a:spcPts val="600"/>
              </a:spcAft>
              <a:buNone/>
            </a:pPr>
            <a:r>
              <a:rPr lang="en-US" sz="1400" b="1" dirty="0">
                <a:solidFill>
                  <a:schemeClr val="tx2"/>
                </a:solidFill>
              </a:rPr>
              <a:t>Untrusted text: </a:t>
            </a:r>
            <a:pPr indent="0" marL="0">
              <a:spcAft>
                <a:spcPts val="600"/>
              </a:spcAft>
              <a:buNone/>
            </a:pPr>
            <a:r>
              <a:rPr lang="en-US" sz="1400" dirty="0">
                <a:solidFill>
                  <a:schemeClr val="tx1"/>
                </a:solidFill>
              </a:rPr>
              <a:t>chat, statements and uploads are data, never instructions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2"/>
                </a:solidFill>
              </a:rPr>
              <a:t>Case lifecycle and the challenge window</a:t>
            </a:r>
            <a:endParaRPr lang="en-US" sz="3200" dirty="0"/>
          </a:p>
        </p:txBody>
      </p:sp>
      <p:sp>
        <p:nvSpPr>
          <p:cNvPr id="3" name="Submitted"/>
          <p:cNvSpPr/>
          <p:nvPr/>
        </p:nvSpPr>
        <p:spPr>
          <a:xfrm>
            <a:off x="548640" y="1737360"/>
            <a:ext cx="1828800" cy="822960"/>
          </a:xfrm>
          <a:prstGeom prst="roundRect">
            <a:avLst>
              <a:gd name="adj" fmla="val 13333"/>
            </a:avLst>
          </a:prstGeom>
          <a:solidFill>
            <a:schemeClr val="tx2"/>
          </a:solidFill>
          <a:ln w="12700">
            <a:solidFill>
              <a:schemeClr val="tx2"/>
            </a:solidFill>
            <a:prstDash val="solid"/>
          </a:ln>
        </p:spPr>
      </p:sp>
      <p:sp>
        <p:nvSpPr>
          <p:cNvPr id="4" name="Submitted text"/>
          <p:cNvSpPr txBox="1"/>
          <p:nvPr/>
        </p:nvSpPr>
        <p:spPr>
          <a:xfrm>
            <a:off x="640080" y="1737360"/>
            <a:ext cx="1645920" cy="822960"/>
          </a:xfrm>
          <a:prstGeom prst="rect">
            <a:avLst/>
          </a:prstGeom>
          <a:noFill/>
          <a:ln/>
        </p:spPr>
        <p:txBody>
          <a:bodyPr wrap="square" lIns="508" tIns="508" rIns="508" bIns="508" rtlCol="0" anchor="ctr"/>
          <a:lstStyle/>
          <a:p>
            <a:pPr algn="ctr" indent="0" marL="0">
              <a:buNone/>
            </a:pPr>
            <a:r>
              <a:rPr lang="en-US" sz="1600" b="1" dirty="0">
                <a:solidFill>
                  <a:schemeClr val="bg1"/>
                </a:solidFill>
              </a:rPr>
              <a:t>Submitted</a:t>
            </a:r>
            <a:endParaRPr lang="en-US" sz="1600" dirty="0"/>
          </a:p>
        </p:txBody>
      </p:sp>
      <p:sp>
        <p:nvSpPr>
          <p:cNvPr id="5" name="Processing"/>
          <p:cNvSpPr/>
          <p:nvPr/>
        </p:nvSpPr>
        <p:spPr>
          <a:xfrm>
            <a:off x="2743200" y="1737360"/>
            <a:ext cx="1828800" cy="822960"/>
          </a:xfrm>
          <a:prstGeom prst="roundRect">
            <a:avLst>
              <a:gd name="adj" fmla="val 13333"/>
            </a:avLst>
          </a:prstGeom>
          <a:solidFill>
            <a:schemeClr val="tx2"/>
          </a:solidFill>
          <a:ln w="12700">
            <a:solidFill>
              <a:schemeClr val="tx2"/>
            </a:solidFill>
            <a:prstDash val="solid"/>
          </a:ln>
        </p:spPr>
      </p:sp>
      <p:sp>
        <p:nvSpPr>
          <p:cNvPr id="6" name="Processing text"/>
          <p:cNvSpPr txBox="1"/>
          <p:nvPr/>
        </p:nvSpPr>
        <p:spPr>
          <a:xfrm>
            <a:off x="2834640" y="1737360"/>
            <a:ext cx="1645920" cy="822960"/>
          </a:xfrm>
          <a:prstGeom prst="rect">
            <a:avLst/>
          </a:prstGeom>
          <a:noFill/>
          <a:ln/>
        </p:spPr>
        <p:txBody>
          <a:bodyPr wrap="square" lIns="508" tIns="508" rIns="508" bIns="508" rtlCol="0" anchor="ctr"/>
          <a:lstStyle/>
          <a:p>
            <a:pPr algn="ctr" indent="0" marL="0">
              <a:buNone/>
            </a:pPr>
            <a:r>
              <a:rPr lang="en-US" sz="1600" b="1" dirty="0">
                <a:solidFill>
                  <a:schemeClr val="bg1"/>
                </a:solidFill>
              </a:rPr>
              <a:t>Processing</a:t>
            </a:r>
            <a:endParaRPr lang="en-US" sz="1600" dirty="0"/>
          </a:p>
        </p:txBody>
      </p:sp>
      <p:sp>
        <p:nvSpPr>
          <p:cNvPr id="7" name="Challenge window"/>
          <p:cNvSpPr/>
          <p:nvPr/>
        </p:nvSpPr>
        <p:spPr>
          <a:xfrm>
            <a:off x="5120640" y="1737360"/>
            <a:ext cx="2651760" cy="822960"/>
          </a:xfrm>
          <a:prstGeom prst="roundRect">
            <a:avLst>
              <a:gd name="adj" fmla="val 13333"/>
            </a:avLst>
          </a:prstGeom>
          <a:solidFill>
            <a:schemeClr val="tx2"/>
          </a:solidFill>
          <a:ln w="12700">
            <a:solidFill>
              <a:schemeClr val="tx2"/>
            </a:solidFill>
            <a:prstDash val="solid"/>
          </a:ln>
        </p:spPr>
      </p:sp>
      <p:sp>
        <p:nvSpPr>
          <p:cNvPr id="8" name="Challenge window text"/>
          <p:cNvSpPr txBox="1"/>
          <p:nvPr/>
        </p:nvSpPr>
        <p:spPr>
          <a:xfrm>
            <a:off x="5212080" y="1737360"/>
            <a:ext cx="2468880" cy="822960"/>
          </a:xfrm>
          <a:prstGeom prst="rect">
            <a:avLst/>
          </a:prstGeom>
          <a:noFill/>
          <a:ln/>
        </p:spPr>
        <p:txBody>
          <a:bodyPr wrap="square" lIns="508" tIns="508" rIns="508" bIns="508" rtlCol="0" anchor="ctr"/>
          <a:lstStyle/>
          <a:p>
            <a:pPr algn="ctr" indent="0" marL="0">
              <a:buNone/>
            </a:pPr>
            <a:r>
              <a:rPr lang="en-US" sz="1600" b="1" dirty="0">
                <a:solidFill>
                  <a:schemeClr val="bg1"/>
                </a:solidFill>
              </a:rPr>
              <a:t>Challenge window</a:t>
            </a:r>
            <a:endParaRPr lang="en-US" sz="1600" dirty="0"/>
          </a:p>
        </p:txBody>
      </p:sp>
      <p:sp>
        <p:nvSpPr>
          <p:cNvPr id="9" name="Closed"/>
          <p:cNvSpPr/>
          <p:nvPr/>
        </p:nvSpPr>
        <p:spPr>
          <a:xfrm>
            <a:off x="9692640" y="1737360"/>
            <a:ext cx="1828800" cy="822960"/>
          </a:xfrm>
          <a:prstGeom prst="roundRect">
            <a:avLst>
              <a:gd name="adj" fmla="val 13333"/>
            </a:avLst>
          </a:prstGeom>
          <a:solidFill>
            <a:schemeClr val="accent5"/>
          </a:solidFill>
          <a:ln w="12700">
            <a:solidFill>
              <a:schemeClr val="accent5"/>
            </a:solidFill>
            <a:prstDash val="solid"/>
          </a:ln>
        </p:spPr>
      </p:sp>
      <p:sp>
        <p:nvSpPr>
          <p:cNvPr id="10" name="Closed text"/>
          <p:cNvSpPr txBox="1"/>
          <p:nvPr/>
        </p:nvSpPr>
        <p:spPr>
          <a:xfrm>
            <a:off x="9784080" y="1737360"/>
            <a:ext cx="1645920" cy="822960"/>
          </a:xfrm>
          <a:prstGeom prst="rect">
            <a:avLst/>
          </a:prstGeom>
          <a:noFill/>
          <a:ln/>
        </p:spPr>
        <p:txBody>
          <a:bodyPr wrap="square" lIns="508" tIns="508" rIns="508" bIns="508" rtlCol="0" anchor="ctr"/>
          <a:lstStyle/>
          <a:p>
            <a:pPr algn="ctr" indent="0" marL="0">
              <a:buNone/>
            </a:pPr>
            <a:r>
              <a:rPr lang="en-US" sz="1600" b="1" dirty="0">
                <a:solidFill>
                  <a:schemeClr val="bg1"/>
                </a:solidFill>
              </a:rPr>
              <a:t>Closed</a:t>
            </a:r>
            <a:endParaRPr lang="en-US" sz="1600" dirty="0"/>
          </a:p>
        </p:txBody>
      </p:sp>
      <p:sp>
        <p:nvSpPr>
          <p:cNvPr id="11" name="Human review"/>
          <p:cNvSpPr/>
          <p:nvPr/>
        </p:nvSpPr>
        <p:spPr>
          <a:xfrm>
            <a:off x="7406640" y="3246120"/>
            <a:ext cx="1828800" cy="822960"/>
          </a:xfrm>
          <a:prstGeom prst="roundRect">
            <a:avLst>
              <a:gd name="adj" fmla="val 13333"/>
            </a:avLst>
          </a:prstGeom>
          <a:solidFill>
            <a:schemeClr val="accent3"/>
          </a:solidFill>
          <a:ln w="12700">
            <a:solidFill>
              <a:schemeClr val="accent3"/>
            </a:solidFill>
            <a:prstDash val="solid"/>
          </a:ln>
        </p:spPr>
      </p:sp>
      <p:sp>
        <p:nvSpPr>
          <p:cNvPr id="12" name="Human review text"/>
          <p:cNvSpPr txBox="1"/>
          <p:nvPr/>
        </p:nvSpPr>
        <p:spPr>
          <a:xfrm>
            <a:off x="7498080" y="3246120"/>
            <a:ext cx="1645920" cy="822960"/>
          </a:xfrm>
          <a:prstGeom prst="rect">
            <a:avLst/>
          </a:prstGeom>
          <a:noFill/>
          <a:ln/>
        </p:spPr>
        <p:txBody>
          <a:bodyPr wrap="square" lIns="508" tIns="508" rIns="508" bIns="508" rtlCol="0" anchor="ctr"/>
          <a:lstStyle/>
          <a:p>
            <a:pPr algn="ctr" indent="0" marL="0">
              <a:buNone/>
            </a:pPr>
            <a:r>
              <a:rPr lang="en-US" sz="1600" b="1" dirty="0">
                <a:solidFill>
                  <a:schemeClr val="bg1"/>
                </a:solidFill>
              </a:rPr>
              <a:t>Human review</a:t>
            </a:r>
            <a:endParaRPr lang="en-US" sz="1600" dirty="0"/>
          </a:p>
        </p:txBody>
      </p:sp>
      <p:sp>
        <p:nvSpPr>
          <p:cNvPr id="13" name="Shape 11"/>
          <p:cNvSpPr/>
          <p:nvPr/>
        </p:nvSpPr>
        <p:spPr>
          <a:xfrm>
            <a:off x="2377440" y="2148840"/>
            <a:ext cx="365760" cy="914"/>
          </a:xfrm>
          <a:prstGeom prst="line">
            <a:avLst/>
          </a:prstGeom>
          <a:noFill/>
          <a:ln w="22225">
            <a:solidFill>
              <a:schemeClr val="accent4"/>
            </a:solidFill>
            <a:prstDash val="solid"/>
            <a:tailEnd type="triangle"/>
          </a:ln>
        </p:spPr>
      </p:sp>
      <p:sp>
        <p:nvSpPr>
          <p:cNvPr id="14" name="Shape 12"/>
          <p:cNvSpPr/>
          <p:nvPr/>
        </p:nvSpPr>
        <p:spPr>
          <a:xfrm>
            <a:off x="4572000" y="2148840"/>
            <a:ext cx="548640" cy="914"/>
          </a:xfrm>
          <a:prstGeom prst="line">
            <a:avLst/>
          </a:prstGeom>
          <a:noFill/>
          <a:ln w="22225">
            <a:solidFill>
              <a:schemeClr val="accent4"/>
            </a:solidFill>
            <a:prstDash val="solid"/>
            <a:tailEnd type="triangle"/>
          </a:ln>
        </p:spPr>
      </p:sp>
      <p:sp>
        <p:nvSpPr>
          <p:cNvPr id="15" name="Shape 13"/>
          <p:cNvSpPr/>
          <p:nvPr/>
        </p:nvSpPr>
        <p:spPr>
          <a:xfrm>
            <a:off x="7772400" y="2148840"/>
            <a:ext cx="1920240" cy="914"/>
          </a:xfrm>
          <a:prstGeom prst="line">
            <a:avLst/>
          </a:prstGeom>
          <a:noFill/>
          <a:ln w="22225">
            <a:solidFill>
              <a:schemeClr val="accent4"/>
            </a:solidFill>
            <a:prstDash val="solid"/>
            <a:tailEnd type="triangle"/>
          </a:ln>
        </p:spPr>
      </p:sp>
      <p:sp>
        <p:nvSpPr>
          <p:cNvPr id="16" name="Text 14"/>
          <p:cNvSpPr txBox="1"/>
          <p:nvPr/>
        </p:nvSpPr>
        <p:spPr>
          <a:xfrm>
            <a:off x="7772400" y="1783080"/>
            <a:ext cx="1920240" cy="320040"/>
          </a:xfrm>
          <a:prstGeom prst="rect">
            <a:avLst/>
          </a:prstGeom>
          <a:noFill/>
          <a:ln/>
        </p:spPr>
        <p:txBody>
          <a:bodyPr wrap="square" lIns="0" tIns="0" rIns="0" bIns="0" rtlCol="0" anchor="ctr"/>
          <a:lstStyle/>
          <a:p>
            <a:pPr algn="ctr" indent="0" marL="0">
              <a:buNone/>
            </a:pPr>
            <a:r>
              <a:rPr lang="en-US" sz="1100" i="1" dirty="0">
                <a:solidFill>
                  <a:schemeClr val="accent4"/>
                </a:solidFill>
              </a:rPr>
              <a:t>accept / deadline</a:t>
            </a:r>
            <a:endParaRPr lang="en-US" sz="1100" dirty="0"/>
          </a:p>
        </p:txBody>
      </p:sp>
      <p:sp>
        <p:nvSpPr>
          <p:cNvPr id="17" name="Shape 15"/>
          <p:cNvSpPr/>
          <p:nvPr/>
        </p:nvSpPr>
        <p:spPr>
          <a:xfrm>
            <a:off x="3657600" y="2560320"/>
            <a:ext cx="3749040" cy="960120"/>
          </a:xfrm>
          <a:prstGeom prst="line">
            <a:avLst/>
          </a:prstGeom>
          <a:noFill/>
          <a:ln w="22225">
            <a:solidFill>
              <a:schemeClr val="accent4"/>
            </a:solidFill>
            <a:prstDash val="solid"/>
            <a:tailEnd type="triangle"/>
          </a:ln>
        </p:spPr>
      </p:sp>
      <p:sp>
        <p:nvSpPr>
          <p:cNvPr id="18" name="Shape 16"/>
          <p:cNvSpPr/>
          <p:nvPr/>
        </p:nvSpPr>
        <p:spPr>
          <a:xfrm>
            <a:off x="6446520" y="2560320"/>
            <a:ext cx="1417320" cy="685800"/>
          </a:xfrm>
          <a:prstGeom prst="line">
            <a:avLst/>
          </a:prstGeom>
          <a:noFill/>
          <a:ln w="22225">
            <a:solidFill>
              <a:schemeClr val="accent4"/>
            </a:solidFill>
            <a:prstDash val="solid"/>
            <a:tailEnd type="triangle"/>
          </a:ln>
        </p:spPr>
      </p:sp>
      <p:sp>
        <p:nvSpPr>
          <p:cNvPr id="19" name="Shape 17"/>
          <p:cNvSpPr/>
          <p:nvPr/>
        </p:nvSpPr>
        <p:spPr>
          <a:xfrm flipV="1">
            <a:off x="9235440" y="2560320"/>
            <a:ext cx="1371600" cy="1097280"/>
          </a:xfrm>
          <a:prstGeom prst="line">
            <a:avLst/>
          </a:prstGeom>
          <a:noFill/>
          <a:ln w="22225">
            <a:solidFill>
              <a:schemeClr val="accent4"/>
            </a:solidFill>
            <a:prstDash val="solid"/>
            <a:tailEnd type="triangle"/>
          </a:ln>
        </p:spPr>
      </p:sp>
      <p:sp>
        <p:nvSpPr>
          <p:cNvPr id="20" name="Shape 18"/>
          <p:cNvSpPr/>
          <p:nvPr/>
        </p:nvSpPr>
        <p:spPr>
          <a:xfrm flipV="1">
            <a:off x="5852160" y="1371600"/>
            <a:ext cx="914" cy="365760"/>
          </a:xfrm>
          <a:prstGeom prst="line">
            <a:avLst/>
          </a:prstGeom>
          <a:noFill/>
          <a:ln w="22225">
            <a:solidFill>
              <a:schemeClr val="accent2"/>
            </a:solidFill>
            <a:prstDash val="solid"/>
          </a:ln>
        </p:spPr>
      </p:sp>
      <p:sp>
        <p:nvSpPr>
          <p:cNvPr id="21" name="Shape 19"/>
          <p:cNvSpPr/>
          <p:nvPr/>
        </p:nvSpPr>
        <p:spPr>
          <a:xfrm flipH="1">
            <a:off x="3657600" y="1371600"/>
            <a:ext cx="2194560" cy="914"/>
          </a:xfrm>
          <a:prstGeom prst="line">
            <a:avLst/>
          </a:prstGeom>
          <a:noFill/>
          <a:ln w="22225">
            <a:solidFill>
              <a:schemeClr val="accent2"/>
            </a:solidFill>
            <a:prstDash val="solid"/>
          </a:ln>
        </p:spPr>
      </p:sp>
      <p:sp>
        <p:nvSpPr>
          <p:cNvPr id="22" name="Shape 20"/>
          <p:cNvSpPr/>
          <p:nvPr/>
        </p:nvSpPr>
        <p:spPr>
          <a:xfrm>
            <a:off x="3657600" y="1371600"/>
            <a:ext cx="914" cy="365760"/>
          </a:xfrm>
          <a:prstGeom prst="line">
            <a:avLst/>
          </a:prstGeom>
          <a:noFill/>
          <a:ln w="22225">
            <a:solidFill>
              <a:schemeClr val="accent2"/>
            </a:solidFill>
            <a:prstDash val="solid"/>
            <a:tailEnd type="triangle"/>
          </a:ln>
        </p:spPr>
      </p:sp>
      <p:sp>
        <p:nvSpPr>
          <p:cNvPr id="23" name="Text 21"/>
          <p:cNvSpPr txBox="1"/>
          <p:nvPr/>
        </p:nvSpPr>
        <p:spPr>
          <a:xfrm>
            <a:off x="3749040" y="1051560"/>
            <a:ext cx="2011680" cy="274320"/>
          </a:xfrm>
          <a:prstGeom prst="rect">
            <a:avLst/>
          </a:prstGeom>
          <a:noFill/>
          <a:ln/>
        </p:spPr>
        <p:txBody>
          <a:bodyPr wrap="square" lIns="0" tIns="0" rIns="0" bIns="0" rtlCol="0" anchor="ctr"/>
          <a:lstStyle/>
          <a:p>
            <a:pPr algn="ctr" indent="0" marL="0">
              <a:buNone/>
            </a:pPr>
            <a:r>
              <a:rPr lang="en-US" sz="1100" i="1" dirty="0">
                <a:solidFill>
                  <a:schemeClr val="tx2"/>
                </a:solidFill>
              </a:rPr>
              <a:t>challenge → re-evaluate</a:t>
            </a:r>
            <a:endParaRPr lang="en-US" sz="1100" dirty="0"/>
          </a:p>
        </p:txBody>
      </p:sp>
      <p:sp>
        <p:nvSpPr>
          <p:cNvPr id="24" name="DECISION_REVIEW"/>
          <p:cNvSpPr/>
          <p:nvPr/>
        </p:nvSpPr>
        <p:spPr>
          <a:xfrm>
            <a:off x="548640" y="4434840"/>
            <a:ext cx="3200400" cy="1417320"/>
          </a:xfrm>
          <a:prstGeom prst="roundRect">
            <a:avLst>
              <a:gd name="adj" fmla="val 7742"/>
            </a:avLst>
          </a:prstGeom>
          <a:solidFill>
            <a:schemeClr val="bg2"/>
          </a:solidFill>
          <a:ln w="12700">
            <a:solidFill>
              <a:schemeClr val="bg2"/>
            </a:solidFill>
            <a:prstDash val="solid"/>
          </a:ln>
        </p:spPr>
      </p:sp>
      <p:sp>
        <p:nvSpPr>
          <p:cNvPr id="25" name="DECISION_REVIEW text"/>
          <p:cNvSpPr txBox="1"/>
          <p:nvPr/>
        </p:nvSpPr>
        <p:spPr>
          <a:xfrm>
            <a:off x="640080" y="4434840"/>
            <a:ext cx="3017520" cy="1417320"/>
          </a:xfrm>
          <a:prstGeom prst="rect">
            <a:avLst/>
          </a:prstGeom>
          <a:noFill/>
          <a:ln/>
        </p:spPr>
        <p:txBody>
          <a:bodyPr wrap="square" lIns="508" tIns="508" rIns="508" bIns="508" rtlCol="0" anchor="ctr"/>
          <a:lstStyle/>
          <a:p>
            <a:pPr algn="l" indent="0" marL="0">
              <a:buNone/>
            </a:pPr>
            <a:r>
              <a:rPr lang="en-US" sz="1500" b="1" dirty="0">
                <a:solidFill>
                  <a:schemeClr val="tx2"/>
                </a:solidFill>
              </a:rPr>
              <a:t>DECISION_REVIEW</a:t>
            </a:r>
            <a:endParaRPr lang="en-US" sz="1500" dirty="0"/>
          </a:p>
          <a:p>
            <a:pPr algn="l" indent="0" marL="0">
              <a:buNone/>
            </a:pPr>
            <a:r>
              <a:rPr lang="en-US" sz="1300" dirty="0">
                <a:solidFill>
                  <a:schemeClr val="tx2"/>
                </a:solidFill>
              </a:rPr>
              <a:t>Evidence complete. The affected party may accept, or challenge on factual, policy or evidence grounds</a:t>
            </a:r>
            <a:endParaRPr lang="en-US" sz="1500" dirty="0"/>
          </a:p>
        </p:txBody>
      </p:sp>
      <p:sp>
        <p:nvSpPr>
          <p:cNvPr id="26" name="EVIDENCE_REQUIRED"/>
          <p:cNvSpPr/>
          <p:nvPr/>
        </p:nvSpPr>
        <p:spPr>
          <a:xfrm>
            <a:off x="3931920" y="4434840"/>
            <a:ext cx="3200400" cy="1417320"/>
          </a:xfrm>
          <a:prstGeom prst="roundRect">
            <a:avLst>
              <a:gd name="adj" fmla="val 7742"/>
            </a:avLst>
          </a:prstGeom>
          <a:solidFill>
            <a:schemeClr val="bg2"/>
          </a:solidFill>
          <a:ln w="12700">
            <a:solidFill>
              <a:schemeClr val="bg2"/>
            </a:solidFill>
            <a:prstDash val="solid"/>
          </a:ln>
        </p:spPr>
      </p:sp>
      <p:sp>
        <p:nvSpPr>
          <p:cNvPr id="27" name="EVIDENCE_REQUIRED text"/>
          <p:cNvSpPr txBox="1"/>
          <p:nvPr/>
        </p:nvSpPr>
        <p:spPr>
          <a:xfrm>
            <a:off x="4023360" y="4434840"/>
            <a:ext cx="3017520" cy="1417320"/>
          </a:xfrm>
          <a:prstGeom prst="rect">
            <a:avLst/>
          </a:prstGeom>
          <a:noFill/>
          <a:ln/>
        </p:spPr>
        <p:txBody>
          <a:bodyPr wrap="square" lIns="508" tIns="508" rIns="508" bIns="508" rtlCol="0" anchor="ctr"/>
          <a:lstStyle/>
          <a:p>
            <a:pPr algn="l" indent="0" marL="0">
              <a:buNone/>
            </a:pPr>
            <a:r>
              <a:rPr lang="en-US" sz="1500" b="1" dirty="0">
                <a:solidFill>
                  <a:schemeClr val="tx2"/>
                </a:solidFill>
              </a:rPr>
              <a:t>EVIDENCE_REQUIRED</a:t>
            </a:r>
            <a:endParaRPr lang="en-US" sz="1500" dirty="0"/>
          </a:p>
          <a:p>
            <a:pPr algn="l" indent="0" marL="0">
              <a:buNone/>
            </a:pPr>
            <a:r>
              <a:rPr lang="en-US" sz="1300" dirty="0">
                <a:solidFill>
                  <a:schemeClr val="tx2"/>
                </a:solidFill>
              </a:rPr>
              <a:t>Decision rests on evidence the party can correct. Challenge only with evidence; none by the deadline → BURDEN_NOT_MET</a:t>
            </a:r>
            <a:endParaRPr lang="en-US" sz="1500" dirty="0"/>
          </a:p>
        </p:txBody>
      </p:sp>
      <p:sp>
        <p:nvSpPr>
          <p:cNvPr id="28" name="Text 26"/>
          <p:cNvSpPr txBox="1"/>
          <p:nvPr/>
        </p:nvSpPr>
        <p:spPr>
          <a:xfrm>
            <a:off x="7406640" y="4434840"/>
            <a:ext cx="4206240" cy="1417320"/>
          </a:xfrm>
          <a:prstGeom prst="rect">
            <a:avLst/>
          </a:prstGeom>
          <a:noFill/>
          <a:ln/>
        </p:spPr>
        <p:txBody>
          <a:bodyPr wrap="square" lIns="0" tIns="0" rIns="0" bIns="0" rtlCol="0" anchor="t"/>
          <a:lstStyle/>
          <a:p>
            <a:pPr algn="l" indent="0" marL="0">
              <a:buNone/>
            </a:pPr>
            <a:r>
              <a:rPr lang="en-US" sz="1300" dirty="0">
                <a:solidFill>
                  <a:schemeClr val="tx1"/>
                </a:solidFill>
              </a:rPr>
              <a:t>Uploads are hash-checked against the trusted trip source. Verified → both advocates rebut and the Judge rules again. Tampered → UNVERIFIED → person.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2"/>
                </a:solidFill>
              </a:rPr>
              <a:t>Each advocate gathers its own side's evidence</a:t>
            </a:r>
            <a:endParaRPr lang="en-US" sz="3200" dirty="0"/>
          </a:p>
        </p:txBody>
      </p:sp>
      <p:sp>
        <p:nvSpPr>
          <p:cNvPr id="3" name="Rider only"/>
          <p:cNvSpPr/>
          <p:nvPr/>
        </p:nvSpPr>
        <p:spPr>
          <a:xfrm>
            <a:off x="548640" y="1371600"/>
            <a:ext cx="3108960" cy="3246120"/>
          </a:xfrm>
          <a:prstGeom prst="roundRect">
            <a:avLst>
              <a:gd name="adj" fmla="val 3529"/>
            </a:avLst>
          </a:prstGeom>
          <a:solidFill>
            <a:schemeClr val="accent1"/>
          </a:solidFill>
          <a:ln w="12700">
            <a:solidFill>
              <a:schemeClr val="accent1"/>
            </a:solidFill>
            <a:prstDash val="solid"/>
          </a:ln>
        </p:spPr>
      </p:sp>
      <p:sp>
        <p:nvSpPr>
          <p:cNvPr id="4" name="Rider only text"/>
          <p:cNvSpPr txBox="1"/>
          <p:nvPr/>
        </p:nvSpPr>
        <p:spPr>
          <a:xfrm>
            <a:off x="640080" y="1371600"/>
            <a:ext cx="2926080" cy="3246120"/>
          </a:xfrm>
          <a:prstGeom prst="rect">
            <a:avLst/>
          </a:prstGeom>
          <a:noFill/>
          <a:ln/>
        </p:spPr>
        <p:txBody>
          <a:bodyPr wrap="square" lIns="127000" tIns="76200" rIns="76200" bIns="76200" rtlCol="0" anchor="t"/>
          <a:lstStyle/>
          <a:p>
            <a:pPr algn="ctr" indent="0" marL="0">
              <a:buNone/>
            </a:pPr>
            <a:r>
              <a:rPr lang="en-US" sz="1800" b="1" dirty="0">
                <a:solidFill>
                  <a:schemeClr val="bg1"/>
                </a:solidFill>
              </a:rPr>
              <a:t>Rider only</a:t>
            </a:r>
            <a:endParaRPr lang="en-US" sz="1800" dirty="0"/>
          </a:p>
        </p:txBody>
      </p:sp>
      <p:sp>
        <p:nvSpPr>
          <p:cNvPr id="5" name="Shared reference"/>
          <p:cNvSpPr/>
          <p:nvPr/>
        </p:nvSpPr>
        <p:spPr>
          <a:xfrm>
            <a:off x="3931920" y="1371600"/>
            <a:ext cx="4297680" cy="3246120"/>
          </a:xfrm>
          <a:prstGeom prst="roundRect">
            <a:avLst>
              <a:gd name="adj" fmla="val 3380"/>
            </a:avLst>
          </a:prstGeom>
          <a:solidFill>
            <a:schemeClr val="bg2"/>
          </a:solidFill>
          <a:ln w="12700">
            <a:solidFill>
              <a:schemeClr val="bg2"/>
            </a:solidFill>
            <a:prstDash val="solid"/>
          </a:ln>
        </p:spPr>
      </p:sp>
      <p:sp>
        <p:nvSpPr>
          <p:cNvPr id="6" name="Shared reference text"/>
          <p:cNvSpPr txBox="1"/>
          <p:nvPr/>
        </p:nvSpPr>
        <p:spPr>
          <a:xfrm>
            <a:off x="4023360" y="1371600"/>
            <a:ext cx="4114800" cy="3246120"/>
          </a:xfrm>
          <a:prstGeom prst="rect">
            <a:avLst/>
          </a:prstGeom>
          <a:noFill/>
          <a:ln/>
        </p:spPr>
        <p:txBody>
          <a:bodyPr wrap="square" lIns="127000" tIns="76200" rIns="76200" bIns="76200" rtlCol="0" anchor="t"/>
          <a:lstStyle/>
          <a:p>
            <a:pPr algn="ctr" indent="0" marL="0">
              <a:buNone/>
            </a:pPr>
            <a:r>
              <a:rPr lang="en-US" sz="1800" b="1" dirty="0">
                <a:solidFill>
                  <a:schemeClr val="tx2"/>
                </a:solidFill>
              </a:rPr>
              <a:t>Shared reference</a:t>
            </a:r>
            <a:endParaRPr lang="en-US" sz="1800" dirty="0"/>
          </a:p>
        </p:txBody>
      </p:sp>
      <p:sp>
        <p:nvSpPr>
          <p:cNvPr id="7" name="Driver only"/>
          <p:cNvSpPr/>
          <p:nvPr/>
        </p:nvSpPr>
        <p:spPr>
          <a:xfrm>
            <a:off x="8503920" y="1371600"/>
            <a:ext cx="3108960" cy="3246120"/>
          </a:xfrm>
          <a:prstGeom prst="roundRect">
            <a:avLst>
              <a:gd name="adj" fmla="val 3529"/>
            </a:avLst>
          </a:prstGeom>
          <a:solidFill>
            <a:schemeClr val="tx2"/>
          </a:solidFill>
          <a:ln w="12700">
            <a:solidFill>
              <a:schemeClr val="tx2"/>
            </a:solidFill>
            <a:prstDash val="solid"/>
          </a:ln>
        </p:spPr>
      </p:sp>
      <p:sp>
        <p:nvSpPr>
          <p:cNvPr id="8" name="Driver only text"/>
          <p:cNvSpPr txBox="1"/>
          <p:nvPr/>
        </p:nvSpPr>
        <p:spPr>
          <a:xfrm>
            <a:off x="8595360" y="1371600"/>
            <a:ext cx="2926080" cy="3246120"/>
          </a:xfrm>
          <a:prstGeom prst="rect">
            <a:avLst/>
          </a:prstGeom>
          <a:noFill/>
          <a:ln/>
        </p:spPr>
        <p:txBody>
          <a:bodyPr wrap="square" lIns="127000" tIns="76200" rIns="76200" bIns="76200" rtlCol="0" anchor="t"/>
          <a:lstStyle/>
          <a:p>
            <a:pPr algn="ctr" indent="0" marL="0">
              <a:buNone/>
            </a:pPr>
            <a:r>
              <a:rPr lang="en-US" sz="1800" b="1" dirty="0">
                <a:solidFill>
                  <a:schemeClr val="bg1"/>
                </a:solidFill>
              </a:rPr>
              <a:t>Driver only</a:t>
            </a:r>
            <a:endParaRPr lang="en-US" sz="1800" dirty="0"/>
          </a:p>
        </p:txBody>
      </p:sp>
      <p:sp>
        <p:nvSpPr>
          <p:cNvPr id="9" name="Text 7"/>
          <p:cNvSpPr txBox="1"/>
          <p:nvPr/>
        </p:nvSpPr>
        <p:spPr>
          <a:xfrm>
            <a:off x="731520" y="1965960"/>
            <a:ext cx="2743200" cy="256032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bg1"/>
                </a:solidFill>
              </a:rPr>
              <a:t>Rider profile</a:t>
            </a:r>
            <a:endParaRPr lang="en-US" sz="1600" dirty="0"/>
          </a:p>
          <a:p>
            <a:pPr marL="342900" indent="-342900">
              <a:spcAft>
                <a:spcPts val="400"/>
              </a:spcAft>
              <a:buSzPct val="100000"/>
              <a:buChar char="•"/>
            </a:pPr>
            <a:r>
              <a:rPr lang="en-US" sz="1600" dirty="0">
                <a:solidFill>
                  <a:schemeClr val="bg1"/>
                </a:solidFill>
              </a:rPr>
              <a:t>Fare breakdown</a:t>
            </a:r>
            <a:endParaRPr lang="en-US" sz="1600" dirty="0"/>
          </a:p>
          <a:p>
            <a:pPr marL="342900" indent="-342900">
              <a:spcAft>
                <a:spcPts val="400"/>
              </a:spcAft>
              <a:buSzPct val="100000"/>
              <a:buChar char="•"/>
            </a:pPr>
            <a:r>
              <a:rPr lang="en-US" sz="1600" dirty="0">
                <a:solidFill>
                  <a:schemeClr val="bg1"/>
                </a:solidFill>
              </a:rPr>
              <a:t>Rider history</a:t>
            </a:r>
            <a:endParaRPr lang="en-US" sz="1600" dirty="0"/>
          </a:p>
          <a:p>
            <a:pPr marL="342900" indent="-342900">
              <a:spcAft>
                <a:spcPts val="400"/>
              </a:spcAft>
              <a:buSzPct val="100000"/>
              <a:buChar char="•"/>
            </a:pPr>
            <a:r>
              <a:rPr lang="en-US" sz="1600" dirty="0">
                <a:solidFill>
                  <a:schemeClr val="bg1"/>
                </a:solidFill>
              </a:rPr>
              <a:t>Rider uploads</a:t>
            </a:r>
            <a:endParaRPr lang="en-US" sz="1600" dirty="0"/>
          </a:p>
        </p:txBody>
      </p:sp>
      <p:sp>
        <p:nvSpPr>
          <p:cNvPr id="10" name="Text 8"/>
          <p:cNvSpPr txBox="1"/>
          <p:nvPr/>
        </p:nvSpPr>
        <p:spPr>
          <a:xfrm>
            <a:off x="4114800" y="1965960"/>
            <a:ext cx="3931920" cy="256032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Dispute and trip record</a:t>
            </a:r>
            <a:endParaRPr lang="en-US" sz="1600" dirty="0"/>
          </a:p>
          <a:p>
            <a:pPr marL="342900" indent="-342900">
              <a:spcAft>
                <a:spcPts val="400"/>
              </a:spcAft>
              <a:buSzPct val="100000"/>
              <a:buChar char="•"/>
            </a:pPr>
            <a:r>
              <a:rPr lang="en-US" sz="1600" dirty="0">
                <a:solidFill>
                  <a:schemeClr val="tx1"/>
                </a:solidFill>
              </a:rPr>
              <a:t>Policy (case-scoped)</a:t>
            </a:r>
            <a:endParaRPr lang="en-US" sz="1600" dirty="0"/>
          </a:p>
          <a:p>
            <a:pPr marL="342900" indent="-342900">
              <a:spcAft>
                <a:spcPts val="400"/>
              </a:spcAft>
              <a:buSzPct val="100000"/>
              <a:buChar char="•"/>
            </a:pPr>
            <a:r>
              <a:rPr lang="en-US" sz="1600" dirty="0">
                <a:solidFill>
                  <a:schemeClr val="tx1"/>
                </a:solidFill>
              </a:rPr>
              <a:t>Chat, calls and app events</a:t>
            </a:r>
            <a:endParaRPr lang="en-US" sz="1600" dirty="0"/>
          </a:p>
          <a:p>
            <a:pPr marL="342900" indent="-342900">
              <a:spcAft>
                <a:spcPts val="400"/>
              </a:spcAft>
              <a:buSzPct val="100000"/>
              <a:buChar char="•"/>
            </a:pPr>
            <a:r>
              <a:rPr lang="en-US" sz="1600" dirty="0">
                <a:solidFill>
                  <a:schemeClr val="tx1"/>
                </a:solidFill>
              </a:rPr>
              <a:t>Chat signals, message labels</a:t>
            </a:r>
            <a:endParaRPr lang="en-US" sz="1600" dirty="0"/>
          </a:p>
          <a:p>
            <a:pPr marL="342900" indent="-342900">
              <a:spcAft>
                <a:spcPts val="400"/>
              </a:spcAft>
              <a:buSzPct val="100000"/>
              <a:buChar char="•"/>
            </a:pPr>
            <a:r>
              <a:rPr lang="en-US" sz="1600" dirty="0">
                <a:solidFill>
                  <a:schemeClr val="tx1"/>
                </a:solidFill>
              </a:rPr>
              <a:t>Navigation and traffic</a:t>
            </a:r>
            <a:endParaRPr lang="en-US" sz="1600" dirty="0"/>
          </a:p>
          <a:p>
            <a:pPr marL="342900" indent="-342900">
              <a:spcAft>
                <a:spcPts val="400"/>
              </a:spcAft>
              <a:buSzPct val="100000"/>
              <a:buChar char="•"/>
            </a:pPr>
            <a:r>
              <a:rPr lang="en-US" sz="1600" dirty="0">
                <a:solidFill>
                  <a:schemeClr val="tx1"/>
                </a:solidFill>
              </a:rPr>
              <a:t>Pairwise history</a:t>
            </a:r>
            <a:endParaRPr lang="en-US" sz="1600" dirty="0"/>
          </a:p>
        </p:txBody>
      </p:sp>
      <p:sp>
        <p:nvSpPr>
          <p:cNvPr id="11" name="Text 9"/>
          <p:cNvSpPr txBox="1"/>
          <p:nvPr/>
        </p:nvSpPr>
        <p:spPr>
          <a:xfrm>
            <a:off x="8686800" y="1965960"/>
            <a:ext cx="2743200" cy="256032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bg1"/>
                </a:solidFill>
              </a:rPr>
              <a:t>Driver GPS</a:t>
            </a:r>
            <a:endParaRPr lang="en-US" sz="1600" dirty="0"/>
          </a:p>
          <a:p>
            <a:pPr marL="342900" indent="-342900">
              <a:spcAft>
                <a:spcPts val="400"/>
              </a:spcAft>
              <a:buSzPct val="100000"/>
              <a:buChar char="•"/>
            </a:pPr>
            <a:r>
              <a:rPr lang="en-US" sz="1600" dirty="0">
                <a:solidFill>
                  <a:schemeClr val="bg1"/>
                </a:solidFill>
              </a:rPr>
              <a:t>Driver profile</a:t>
            </a:r>
            <a:endParaRPr lang="en-US" sz="1600" dirty="0"/>
          </a:p>
          <a:p>
            <a:pPr marL="342900" indent="-342900">
              <a:spcAft>
                <a:spcPts val="400"/>
              </a:spcAft>
              <a:buSzPct val="100000"/>
              <a:buChar char="•"/>
            </a:pPr>
            <a:r>
              <a:rPr lang="en-US" sz="1600" dirty="0">
                <a:solidFill>
                  <a:schemeClr val="bg1"/>
                </a:solidFill>
              </a:rPr>
              <a:t>Driver history</a:t>
            </a:r>
            <a:endParaRPr lang="en-US" sz="1600" dirty="0"/>
          </a:p>
          <a:p>
            <a:pPr marL="342900" indent="-342900">
              <a:spcAft>
                <a:spcPts val="400"/>
              </a:spcAft>
              <a:buSzPct val="100000"/>
              <a:buChar char="•"/>
            </a:pPr>
            <a:r>
              <a:rPr lang="en-US" sz="1600" dirty="0">
                <a:solidFill>
                  <a:schemeClr val="bg1"/>
                </a:solidFill>
              </a:rPr>
              <a:t>Driver uploads</a:t>
            </a:r>
            <a:endParaRPr lang="en-US" sz="1600" dirty="0"/>
          </a:p>
        </p:txBody>
      </p:sp>
      <p:sp>
        <p:nvSpPr>
          <p:cNvPr id="12" name="Same case file"/>
          <p:cNvSpPr/>
          <p:nvPr/>
        </p:nvSpPr>
        <p:spPr>
          <a:xfrm>
            <a:off x="548640" y="4892040"/>
            <a:ext cx="3566160" cy="960120"/>
          </a:xfrm>
          <a:prstGeom prst="roundRect">
            <a:avLst>
              <a:gd name="adj" fmla="val 11429"/>
            </a:avLst>
          </a:prstGeom>
          <a:solidFill>
            <a:schemeClr val="bg1"/>
          </a:solidFill>
          <a:ln w="12700">
            <a:solidFill>
              <a:schemeClr val="accent4"/>
            </a:solidFill>
            <a:prstDash val="solid"/>
          </a:ln>
        </p:spPr>
      </p:sp>
      <p:sp>
        <p:nvSpPr>
          <p:cNvPr id="13" name="Same case file text"/>
          <p:cNvSpPr txBox="1"/>
          <p:nvPr/>
        </p:nvSpPr>
        <p:spPr>
          <a:xfrm>
            <a:off x="640080" y="4892040"/>
            <a:ext cx="3383280" cy="960120"/>
          </a:xfrm>
          <a:prstGeom prst="rect">
            <a:avLst/>
          </a:prstGeom>
          <a:noFill/>
          <a:ln/>
        </p:spPr>
        <p:txBody>
          <a:bodyPr wrap="square" lIns="508" tIns="508" rIns="508" bIns="508" rtlCol="0" anchor="ctr"/>
          <a:lstStyle/>
          <a:p>
            <a:pPr algn="ctr" indent="0" marL="0">
              <a:buNone/>
            </a:pPr>
            <a:r>
              <a:rPr lang="en-US" sz="1500" b="1" dirty="0">
                <a:solidFill>
                  <a:schemeClr val="tx2"/>
                </a:solidFill>
              </a:rPr>
              <a:t>Same case file</a:t>
            </a:r>
            <a:endParaRPr lang="en-US" sz="1500" dirty="0"/>
          </a:p>
          <a:p>
            <a:pPr algn="ctr" indent="0" marL="0">
              <a:buNone/>
            </a:pPr>
            <a:r>
              <a:rPr lang="en-US" sz="1200" dirty="0">
                <a:solidFill>
                  <a:schemeClr val="tx2"/>
                </a:solidFill>
              </a:rPr>
              <a:t>both advocates start each round from it, in parallel</a:t>
            </a:r>
            <a:endParaRPr lang="en-US" sz="1500" dirty="0"/>
          </a:p>
        </p:txBody>
      </p:sp>
      <p:sp>
        <p:nvSpPr>
          <p:cNvPr id="14" name="Own side only"/>
          <p:cNvSpPr/>
          <p:nvPr/>
        </p:nvSpPr>
        <p:spPr>
          <a:xfrm>
            <a:off x="4297680" y="4892040"/>
            <a:ext cx="3566160" cy="960120"/>
          </a:xfrm>
          <a:prstGeom prst="roundRect">
            <a:avLst>
              <a:gd name="adj" fmla="val 11429"/>
            </a:avLst>
          </a:prstGeom>
          <a:solidFill>
            <a:schemeClr val="bg1"/>
          </a:solidFill>
          <a:ln w="12700">
            <a:solidFill>
              <a:schemeClr val="accent4"/>
            </a:solidFill>
            <a:prstDash val="solid"/>
          </a:ln>
        </p:spPr>
      </p:sp>
      <p:sp>
        <p:nvSpPr>
          <p:cNvPr id="15" name="Own side only text"/>
          <p:cNvSpPr txBox="1"/>
          <p:nvPr/>
        </p:nvSpPr>
        <p:spPr>
          <a:xfrm>
            <a:off x="4389120" y="4892040"/>
            <a:ext cx="3383280" cy="960120"/>
          </a:xfrm>
          <a:prstGeom prst="rect">
            <a:avLst/>
          </a:prstGeom>
          <a:noFill/>
          <a:ln/>
        </p:spPr>
        <p:txBody>
          <a:bodyPr wrap="square" lIns="508" tIns="508" rIns="508" bIns="508" rtlCol="0" anchor="ctr"/>
          <a:lstStyle/>
          <a:p>
            <a:pPr algn="ctr" indent="0" marL="0">
              <a:buNone/>
            </a:pPr>
            <a:r>
              <a:rPr lang="en-US" sz="1500" b="1" dirty="0">
                <a:solidFill>
                  <a:schemeClr val="tx2"/>
                </a:solidFill>
              </a:rPr>
              <a:t>Own side only</a:t>
            </a:r>
            <a:endParaRPr lang="en-US" sz="1500" dirty="0"/>
          </a:p>
          <a:p>
            <a:pPr algn="ctr" indent="0" marL="0">
              <a:buNone/>
            </a:pPr>
            <a:r>
              <a:rPr lang="en-US" sz="1200" dirty="0">
                <a:solidFill>
                  <a:schemeClr val="tx2"/>
                </a:solidFill>
              </a:rPr>
              <a:t>party history and uploads are never shared</a:t>
            </a:r>
            <a:endParaRPr lang="en-US" sz="1500" dirty="0"/>
          </a:p>
        </p:txBody>
      </p:sp>
      <p:sp>
        <p:nvSpPr>
          <p:cNvPr id="16" name="Read-only, logged"/>
          <p:cNvSpPr/>
          <p:nvPr/>
        </p:nvSpPr>
        <p:spPr>
          <a:xfrm>
            <a:off x="8046720" y="4892040"/>
            <a:ext cx="3566160" cy="960120"/>
          </a:xfrm>
          <a:prstGeom prst="roundRect">
            <a:avLst>
              <a:gd name="adj" fmla="val 11429"/>
            </a:avLst>
          </a:prstGeom>
          <a:solidFill>
            <a:schemeClr val="bg1"/>
          </a:solidFill>
          <a:ln w="12700">
            <a:solidFill>
              <a:schemeClr val="accent4"/>
            </a:solidFill>
            <a:prstDash val="solid"/>
          </a:ln>
        </p:spPr>
      </p:sp>
      <p:sp>
        <p:nvSpPr>
          <p:cNvPr id="17" name="Read-only, logged text"/>
          <p:cNvSpPr txBox="1"/>
          <p:nvPr/>
        </p:nvSpPr>
        <p:spPr>
          <a:xfrm>
            <a:off x="8138160" y="4892040"/>
            <a:ext cx="3383280" cy="960120"/>
          </a:xfrm>
          <a:prstGeom prst="rect">
            <a:avLst/>
          </a:prstGeom>
          <a:noFill/>
          <a:ln/>
        </p:spPr>
        <p:txBody>
          <a:bodyPr wrap="square" lIns="508" tIns="508" rIns="508" bIns="508" rtlCol="0" anchor="ctr"/>
          <a:lstStyle/>
          <a:p>
            <a:pPr algn="ctr" indent="0" marL="0">
              <a:buNone/>
            </a:pPr>
            <a:r>
              <a:rPr lang="en-US" sz="1500" b="1" dirty="0">
                <a:solidFill>
                  <a:schemeClr val="tx2"/>
                </a:solidFill>
              </a:rPr>
              <a:t>Read-only, logged</a:t>
            </a:r>
            <a:endParaRPr lang="en-US" sz="1500" dirty="0"/>
          </a:p>
          <a:p>
            <a:pPr algn="ctr" indent="0" marL="0">
              <a:buNone/>
            </a:pPr>
            <a:r>
              <a:rPr lang="en-US" sz="1200" dirty="0">
                <a:solidFill>
                  <a:schemeClr val="tx2"/>
                </a:solidFill>
              </a:rPr>
              <a:t>scoped to the case and session; every call audited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nchor="ctr"/>
          <a:lstStyle/>
          <a:p>
            <a:pPr algn="l" indent="0" marL="0">
              <a:buNone/>
            </a:pPr>
            <a:r>
              <a:rPr lang="en-US" sz="3200" b="1" dirty="0">
                <a:solidFill>
                  <a:schemeClr val="tx2"/>
                </a:solidFill>
              </a:rPr>
              <a:t>Hard variants show what keyword reading misses</a:t>
            </a:r>
            <a:endParaRPr lang="en-US" sz="3200" dirty="0"/>
          </a:p>
        </p:txBody>
      </p:sp>
      <p:graphicFrame>
        <p:nvGraphicFramePr>
          <p:cNvPr id="3" name="Chart 0" descr=""/>
          <p:cNvGraphicFramePr/>
          <p:nvPr/>
        </p:nvGraphicFramePr>
        <p:xfrm>
          <a:off x="548640" y="128016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4" name="S$3.44"/>
          <p:cNvSpPr/>
          <p:nvPr/>
        </p:nvSpPr>
        <p:spPr>
          <a:xfrm>
            <a:off x="7863840" y="1371600"/>
            <a:ext cx="3749040" cy="1234440"/>
          </a:xfrm>
          <a:prstGeom prst="roundRect">
            <a:avLst>
              <a:gd name="adj" fmla="val 8889"/>
            </a:avLst>
          </a:prstGeom>
          <a:solidFill>
            <a:schemeClr val="bg2"/>
          </a:solidFill>
          <a:ln w="12700">
            <a:solidFill>
              <a:schemeClr val="bg2"/>
            </a:solidFill>
            <a:prstDash val="solid"/>
          </a:ln>
        </p:spPr>
      </p:sp>
      <p:sp>
        <p:nvSpPr>
          <p:cNvPr id="5" name="S$3.44 text"/>
          <p:cNvSpPr txBox="1"/>
          <p:nvPr/>
        </p:nvSpPr>
        <p:spPr>
          <a:xfrm>
            <a:off x="7955280" y="1371600"/>
            <a:ext cx="3566160" cy="1234440"/>
          </a:xfrm>
          <a:prstGeom prst="rect">
            <a:avLst/>
          </a:prstGeom>
          <a:noFill/>
          <a:ln/>
        </p:spPr>
        <p:txBody>
          <a:bodyPr wrap="square" lIns="508" tIns="508" rIns="508" bIns="508" rtlCol="0" anchor="ctr"/>
          <a:lstStyle/>
          <a:p>
            <a:pPr algn="ctr" indent="0" marL="0">
              <a:buNone/>
            </a:pPr>
            <a:r>
              <a:rPr lang="en-US" sz="3000" b="1" dirty="0">
                <a:solidFill>
                  <a:schemeClr val="tx2"/>
                </a:solidFill>
              </a:rPr>
              <a:t>S$3.44</a:t>
            </a:r>
            <a:endParaRPr lang="en-US" sz="3000" dirty="0"/>
          </a:p>
          <a:p>
            <a:pPr algn="ctr" indent="0" marL="0">
              <a:buNone/>
            </a:pPr>
            <a:r>
              <a:rPr lang="en-US" sz="1300" dirty="0">
                <a:solidFill>
                  <a:schemeClr val="tx2"/>
                </a:solidFill>
              </a:rPr>
              <a:t>DISP-001: matches the organisers' expected refund</a:t>
            </a:r>
            <a:endParaRPr lang="en-US" sz="3000" dirty="0"/>
          </a:p>
        </p:txBody>
      </p:sp>
      <p:sp>
        <p:nvSpPr>
          <p:cNvPr id="6" name="28–40%"/>
          <p:cNvSpPr/>
          <p:nvPr/>
        </p:nvSpPr>
        <p:spPr>
          <a:xfrm>
            <a:off x="7863840" y="2743200"/>
            <a:ext cx="3749040" cy="1234440"/>
          </a:xfrm>
          <a:prstGeom prst="roundRect">
            <a:avLst>
              <a:gd name="adj" fmla="val 8889"/>
            </a:avLst>
          </a:prstGeom>
          <a:solidFill>
            <a:schemeClr val="bg2"/>
          </a:solidFill>
          <a:ln w="12700">
            <a:solidFill>
              <a:schemeClr val="bg2"/>
            </a:solidFill>
            <a:prstDash val="solid"/>
          </a:ln>
        </p:spPr>
      </p:sp>
      <p:sp>
        <p:nvSpPr>
          <p:cNvPr id="7" name="28–40% text"/>
          <p:cNvSpPr txBox="1"/>
          <p:nvPr/>
        </p:nvSpPr>
        <p:spPr>
          <a:xfrm>
            <a:off x="7955280" y="2743200"/>
            <a:ext cx="3566160" cy="1234440"/>
          </a:xfrm>
          <a:prstGeom prst="rect">
            <a:avLst/>
          </a:prstGeom>
          <a:noFill/>
          <a:ln/>
        </p:spPr>
        <p:txBody>
          <a:bodyPr wrap="square" lIns="508" tIns="508" rIns="508" bIns="508" rtlCol="0" anchor="ctr"/>
          <a:lstStyle/>
          <a:p>
            <a:pPr algn="ctr" indent="0" marL="0">
              <a:buNone/>
            </a:pPr>
            <a:r>
              <a:rPr lang="en-US" sz="3000" b="1" dirty="0">
                <a:solidFill>
                  <a:schemeClr val="tx2"/>
                </a:solidFill>
              </a:rPr>
              <a:t>28–40%</a:t>
            </a:r>
            <a:endParaRPr lang="en-US" sz="3000" dirty="0"/>
          </a:p>
          <a:p>
            <a:pPr algn="ctr" indent="0" marL="0">
              <a:buNone/>
            </a:pPr>
            <a:r>
              <a:rPr lang="en-US" sz="1300" dirty="0">
                <a:solidFill>
                  <a:schemeClr val="tx2"/>
                </a:solidFill>
              </a:rPr>
              <a:t>naive baselines (always refund, uphold, or send to a person)</a:t>
            </a:r>
            <a:endParaRPr lang="en-US" sz="3000" dirty="0"/>
          </a:p>
        </p:txBody>
      </p:sp>
      <p:sp>
        <p:nvSpPr>
          <p:cNvPr id="8" name="7 / 7"/>
          <p:cNvSpPr/>
          <p:nvPr/>
        </p:nvSpPr>
        <p:spPr>
          <a:xfrm>
            <a:off x="7863840" y="4114800"/>
            <a:ext cx="3749040" cy="1737360"/>
          </a:xfrm>
          <a:prstGeom prst="roundRect">
            <a:avLst>
              <a:gd name="adj" fmla="val 6316"/>
            </a:avLst>
          </a:prstGeom>
          <a:solidFill>
            <a:schemeClr val="accent1"/>
          </a:solidFill>
          <a:ln w="12700">
            <a:solidFill>
              <a:schemeClr val="accent1"/>
            </a:solidFill>
            <a:prstDash val="solid"/>
          </a:ln>
        </p:spPr>
      </p:sp>
      <p:sp>
        <p:nvSpPr>
          <p:cNvPr id="9" name="7 / 7 text"/>
          <p:cNvSpPr txBox="1"/>
          <p:nvPr/>
        </p:nvSpPr>
        <p:spPr>
          <a:xfrm>
            <a:off x="7955280" y="4114800"/>
            <a:ext cx="3566160" cy="1737360"/>
          </a:xfrm>
          <a:prstGeom prst="rect">
            <a:avLst/>
          </a:prstGeom>
          <a:noFill/>
          <a:ln/>
        </p:spPr>
        <p:txBody>
          <a:bodyPr wrap="square" lIns="508" tIns="508" rIns="508" bIns="508" rtlCol="0" anchor="ctr"/>
          <a:lstStyle/>
          <a:p>
            <a:pPr algn="ctr" indent="0" marL="0">
              <a:buNone/>
            </a:pPr>
            <a:r>
              <a:rPr lang="en-US" sz="3000" b="1" dirty="0">
                <a:solidFill>
                  <a:schemeClr val="bg1"/>
                </a:solidFill>
              </a:rPr>
              <a:t>7 / 7</a:t>
            </a:r>
            <a:endParaRPr lang="en-US" sz="3000" dirty="0"/>
          </a:p>
          <a:p>
            <a:pPr algn="ctr" indent="0" marL="0">
              <a:buNone/>
            </a:pPr>
            <a:r>
              <a:rPr lang="en-US" sz="1300" dirty="0">
                <a:solidFill>
                  <a:schemeClr val="bg1"/>
                </a:solidFill>
              </a:rPr>
              <a:t>liability right in an early real-model sample, incl. a Singlish notice keywords missed (full LLM run pending)</a:t>
            </a:r>
            <a:endParaRPr lang="en-US" sz="3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nchor="b"/>
          <a:lstStyle/>
          <a:p>
            <a:pPr algn="l" indent="0" marL="0">
              <a:buNone/>
            </a:pPr>
            <a:r>
              <a:rPr lang="en-US" sz="4800" b="1" dirty="0">
                <a:solidFill>
                  <a:schemeClr val="bg1"/>
                </a:solidFill>
              </a:rPr>
              <a:t>Next steps</a:t>
            </a:r>
            <a:endParaRPr lang="en-US" sz="4800" dirty="0"/>
          </a:p>
        </p:txBody>
      </p:sp>
      <p:sp>
        <p:nvSpPr>
          <p:cNvPr id="3" name="Text 0"/>
          <p:cNvSpPr/>
          <p:nvPr>
            <p:ph idx="101" type="body" hasCustomPrompt="1"/>
          </p:nvPr>
        </p:nvSpPr>
        <p:spPr>
          <a:xfrm>
            <a:off x="731520" y="3520440"/>
            <a:ext cx="10698480" cy="1280160"/>
          </a:xfrm>
          <a:prstGeom prst="rect">
            <a:avLst/>
          </a:prstGeom>
          <a:noFill/>
          <a:ln/>
        </p:spPr>
        <p:txBody>
          <a:bodyPr wrap="square" rtlCol="0" anchor="t"/>
          <a:lstStyle/>
          <a:p>
            <a:pPr algn="l" indent="0" marL="0">
              <a:buNone/>
            </a:pPr>
            <a:r>
              <a:rPr lang="en-US" sz="2000" dirty="0">
                <a:solidFill>
                  <a:schemeClr val="bg2"/>
                </a:solidFill>
              </a:rPr>
              <a:t>From a validated prototype to a measured one</a:t>
            </a:r>
            <a:endParaRPr lang="en-US" sz="2000" dirty="0"/>
          </a:p>
        </p:txBody>
      </p:sp>
      <p:sp>
        <p:nvSpPr>
          <p:cNvPr id="4" name="Safety by meaning"/>
          <p:cNvSpPr/>
          <p:nvPr/>
        </p:nvSpPr>
        <p:spPr>
          <a:xfrm>
            <a:off x="731520" y="4754880"/>
            <a:ext cx="2560320" cy="1280160"/>
          </a:xfrm>
          <a:prstGeom prst="roundRect">
            <a:avLst>
              <a:gd name="adj" fmla="val 8571"/>
            </a:avLst>
          </a:prstGeom>
          <a:solidFill>
            <a:schemeClr val="accent2"/>
          </a:solidFill>
          <a:ln w="12700">
            <a:solidFill>
              <a:schemeClr val="accent2"/>
            </a:solidFill>
            <a:prstDash val="solid"/>
          </a:ln>
        </p:spPr>
      </p:sp>
      <p:sp>
        <p:nvSpPr>
          <p:cNvPr id="5" name="Safety by meaning text"/>
          <p:cNvSpPr txBox="1"/>
          <p:nvPr/>
        </p:nvSpPr>
        <p:spPr>
          <a:xfrm>
            <a:off x="822960" y="4754880"/>
            <a:ext cx="2377440" cy="1280160"/>
          </a:xfrm>
          <a:prstGeom prst="rect">
            <a:avLst/>
          </a:prstGeom>
          <a:noFill/>
          <a:ln/>
        </p:spPr>
        <p:txBody>
          <a:bodyPr wrap="square" lIns="508" tIns="508" rIns="508" bIns="508" rtlCol="0" anchor="ctr"/>
          <a:lstStyle/>
          <a:p>
            <a:pPr algn="ctr" indent="0" marL="0">
              <a:buNone/>
            </a:pPr>
            <a:r>
              <a:rPr lang="en-US" sz="1600" b="1" dirty="0">
                <a:solidFill>
                  <a:schemeClr val="tx1"/>
                </a:solidFill>
              </a:rPr>
              <a:t>Safety by meaning</a:t>
            </a:r>
            <a:endParaRPr lang="en-US" sz="1600" dirty="0"/>
          </a:p>
          <a:p>
            <a:pPr algn="ctr" indent="0" marL="0">
              <a:buNone/>
            </a:pPr>
            <a:r>
              <a:rPr lang="en-US" sz="1200" dirty="0">
                <a:solidFill>
                  <a:schemeClr val="tx1"/>
                </a:solidFill>
              </a:rPr>
              <a:t>Communication Analyst labels threats; rules may only escalate</a:t>
            </a:r>
            <a:endParaRPr lang="en-US" sz="1600" dirty="0"/>
          </a:p>
        </p:txBody>
      </p:sp>
      <p:sp>
        <p:nvSpPr>
          <p:cNvPr id="6" name="Full LLM benchmark"/>
          <p:cNvSpPr/>
          <p:nvPr/>
        </p:nvSpPr>
        <p:spPr>
          <a:xfrm>
            <a:off x="3474720" y="4754880"/>
            <a:ext cx="2560320" cy="1280160"/>
          </a:xfrm>
          <a:prstGeom prst="roundRect">
            <a:avLst>
              <a:gd name="adj" fmla="val 8571"/>
            </a:avLst>
          </a:prstGeom>
          <a:solidFill>
            <a:schemeClr val="accent1"/>
          </a:solidFill>
          <a:ln w="12700">
            <a:solidFill>
              <a:schemeClr val="accent1"/>
            </a:solidFill>
            <a:prstDash val="solid"/>
          </a:ln>
        </p:spPr>
      </p:sp>
      <p:sp>
        <p:nvSpPr>
          <p:cNvPr id="7" name="Full LLM benchmark text"/>
          <p:cNvSpPr txBox="1"/>
          <p:nvPr/>
        </p:nvSpPr>
        <p:spPr>
          <a:xfrm>
            <a:off x="3566160" y="4754880"/>
            <a:ext cx="2377440" cy="1280160"/>
          </a:xfrm>
          <a:prstGeom prst="rect">
            <a:avLst/>
          </a:prstGeom>
          <a:noFill/>
          <a:ln/>
        </p:spPr>
        <p:txBody>
          <a:bodyPr wrap="square" lIns="508" tIns="508" rIns="508" bIns="508" rtlCol="0" anchor="ctr"/>
          <a:lstStyle/>
          <a:p>
            <a:pPr algn="ctr" indent="0" marL="0">
              <a:buNone/>
            </a:pPr>
            <a:r>
              <a:rPr lang="en-US" sz="1600" b="1" dirty="0">
                <a:solidFill>
                  <a:schemeClr val="bg1"/>
                </a:solidFill>
              </a:rPr>
              <a:t>Full LLM benchmark</a:t>
            </a:r>
            <a:endParaRPr lang="en-US" sz="1600" dirty="0"/>
          </a:p>
          <a:p>
            <a:pPr algn="ctr" indent="0" marL="0">
              <a:buNone/>
            </a:pPr>
            <a:r>
              <a:rPr lang="en-US" sz="1200" dirty="0">
                <a:solidFill>
                  <a:schemeClr val="bg1"/>
                </a:solidFill>
              </a:rPr>
              <a:t>100 cases on a paid model, parallel runs</a:t>
            </a:r>
            <a:endParaRPr lang="en-US" sz="1600" dirty="0"/>
          </a:p>
        </p:txBody>
      </p:sp>
      <p:sp>
        <p:nvSpPr>
          <p:cNvPr id="8" name="Independent labels"/>
          <p:cNvSpPr/>
          <p:nvPr/>
        </p:nvSpPr>
        <p:spPr>
          <a:xfrm>
            <a:off x="6217920" y="4754880"/>
            <a:ext cx="2560320" cy="1280160"/>
          </a:xfrm>
          <a:prstGeom prst="roundRect">
            <a:avLst>
              <a:gd name="adj" fmla="val 8571"/>
            </a:avLst>
          </a:prstGeom>
          <a:solidFill>
            <a:schemeClr val="accent1"/>
          </a:solidFill>
          <a:ln w="12700">
            <a:solidFill>
              <a:schemeClr val="accent1"/>
            </a:solidFill>
            <a:prstDash val="solid"/>
          </a:ln>
        </p:spPr>
      </p:sp>
      <p:sp>
        <p:nvSpPr>
          <p:cNvPr id="9" name="Independent labels text"/>
          <p:cNvSpPr txBox="1"/>
          <p:nvPr/>
        </p:nvSpPr>
        <p:spPr>
          <a:xfrm>
            <a:off x="6309360" y="4754880"/>
            <a:ext cx="2377440" cy="1280160"/>
          </a:xfrm>
          <a:prstGeom prst="rect">
            <a:avLst/>
          </a:prstGeom>
          <a:noFill/>
          <a:ln/>
        </p:spPr>
        <p:txBody>
          <a:bodyPr wrap="square" lIns="508" tIns="508" rIns="508" bIns="508" rtlCol="0" anchor="ctr"/>
          <a:lstStyle/>
          <a:p>
            <a:pPr algn="ctr" indent="0" marL="0">
              <a:buNone/>
            </a:pPr>
            <a:r>
              <a:rPr lang="en-US" sz="1600" b="1" dirty="0">
                <a:solidFill>
                  <a:schemeClr val="bg1"/>
                </a:solidFill>
              </a:rPr>
              <a:t>Independent labels</a:t>
            </a:r>
            <a:endParaRPr lang="en-US" sz="1600" dirty="0"/>
          </a:p>
          <a:p>
            <a:pPr algn="ctr" indent="0" marL="0">
              <a:buNone/>
            </a:pPr>
            <a:r>
              <a:rPr lang="en-US" sz="1200" dirty="0">
                <a:solidFill>
                  <a:schemeClr val="bg1"/>
                </a:solidFill>
              </a:rPr>
              <a:t>Annotators outside the team, with agreement score</a:t>
            </a:r>
            <a:endParaRPr lang="en-US" sz="1600" dirty="0"/>
          </a:p>
        </p:txBody>
      </p:sp>
      <p:sp>
        <p:nvSpPr>
          <p:cNvPr id="10" name="Production path"/>
          <p:cNvSpPr/>
          <p:nvPr/>
        </p:nvSpPr>
        <p:spPr>
          <a:xfrm>
            <a:off x="8961120" y="4754880"/>
            <a:ext cx="2560320" cy="1280160"/>
          </a:xfrm>
          <a:prstGeom prst="roundRect">
            <a:avLst>
              <a:gd name="adj" fmla="val 8571"/>
            </a:avLst>
          </a:prstGeom>
          <a:solidFill>
            <a:schemeClr val="accent1"/>
          </a:solidFill>
          <a:ln w="12700">
            <a:solidFill>
              <a:schemeClr val="accent1"/>
            </a:solidFill>
            <a:prstDash val="solid"/>
          </a:ln>
        </p:spPr>
      </p:sp>
      <p:sp>
        <p:nvSpPr>
          <p:cNvPr id="11" name="Production path text"/>
          <p:cNvSpPr txBox="1"/>
          <p:nvPr/>
        </p:nvSpPr>
        <p:spPr>
          <a:xfrm>
            <a:off x="9052560" y="4754880"/>
            <a:ext cx="2377440" cy="1280160"/>
          </a:xfrm>
          <a:prstGeom prst="rect">
            <a:avLst/>
          </a:prstGeom>
          <a:noFill/>
          <a:ln/>
        </p:spPr>
        <p:txBody>
          <a:bodyPr wrap="square" lIns="508" tIns="508" rIns="508" bIns="508" rtlCol="0" anchor="ctr"/>
          <a:lstStyle/>
          <a:p>
            <a:pPr algn="ctr" indent="0" marL="0">
              <a:buNone/>
            </a:pPr>
            <a:r>
              <a:rPr lang="en-US" sz="1600" b="1" dirty="0">
                <a:solidFill>
                  <a:schemeClr val="bg1"/>
                </a:solidFill>
              </a:rPr>
              <a:t>Production path</a:t>
            </a:r>
            <a:endParaRPr lang="en-US" sz="1600" dirty="0"/>
          </a:p>
          <a:p>
            <a:pPr algn="ctr" indent="0" marL="0">
              <a:buNone/>
            </a:pPr>
            <a:r>
              <a:rPr lang="en-US" sz="1200" dirty="0">
                <a:solidFill>
                  <a:schemeClr val="bg1"/>
                </a:solidFill>
              </a:rPr>
              <a:t>Real auth, managed DB, calibrated confidence</a:t>
            </a:r>
            <a:endParaRPr lang="en-US" sz="1600" dirty="0"/>
          </a:p>
        </p:txBody>
      </p:sp>
    </p:spTree>
  </p:cSld>
  <p:clrMapOvr>
    <a:masterClrMapping/>
  </p:clrMapOvr>
</p:sld>
</file>

<file path=ppt/theme/theme1.xml><?xml version="1.0" encoding="utf-8"?>
<a:theme xmlns:a="http://schemas.openxmlformats.org/drawingml/2006/main" name="RydeResolve">
  <a:themeElements>
    <a:clrScheme name="RydeResolve">
      <a:dk1>
        <a:srgbClr val="1F2A30"/>
      </a:dk1>
      <a:lt1>
        <a:srgbClr val="FFFFFF"/>
      </a:lt1>
      <a:dk2>
        <a:srgbClr val="0B3C49"/>
      </a:dk2>
      <a:lt2>
        <a:srgbClr val="E8F1F2"/>
      </a:lt2>
      <a:accent1>
        <a:srgbClr val="1B998B"/>
      </a:accent1>
      <a:accent2>
        <a:srgbClr val="F4A259"/>
      </a:accent2>
      <a:accent3>
        <a:srgbClr val="D1495B"/>
      </a:accent3>
      <a:accent4>
        <a:srgbClr val="5B7DB1"/>
      </a:accent4>
      <a:accent5>
        <a:srgbClr val="6A994E"/>
      </a:accent5>
      <a:accent6>
        <a:srgbClr val="8E7DBE"/>
      </a:accent6>
      <a:hlink>
        <a:srgbClr val="1B998B"/>
      </a:hlink>
      <a:folHlink>
        <a:srgbClr val="5B7DB1"/>
      </a:folHlink>
    </a:clrScheme>
    <a:fontScheme name="RydeResolv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RydeResolve Solution Diagram</dc:title>
  <dc:subject>PptxGenJS Presentation</dc:subject>
  <dc:creator>RydeResolve team</dc:creator>
  <cp:lastModifiedBy>RydeResolve team</cp:lastModifiedBy>
  <cp:revision>1</cp:revision>
  <dcterms:created xsi:type="dcterms:W3CDTF">2026-10-14T11:45:47Z</dcterms:created>
  <dcterms:modified xsi:type="dcterms:W3CDTF">2026-10-14T11:45:47Z</dcterms:modified>
</cp:coreProperties>
</file>